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  <p:sldMasterId id="2147483717" r:id="rId2"/>
  </p:sldMasterIdLst>
  <p:notesMasterIdLst>
    <p:notesMasterId r:id="rId39"/>
  </p:notesMasterIdLst>
  <p:handoutMasterIdLst>
    <p:handoutMasterId r:id="rId40"/>
  </p:handoutMasterIdLst>
  <p:sldIdLst>
    <p:sldId id="529" r:id="rId3"/>
    <p:sldId id="1121" r:id="rId4"/>
    <p:sldId id="1122" r:id="rId5"/>
    <p:sldId id="1164" r:id="rId6"/>
    <p:sldId id="1165" r:id="rId7"/>
    <p:sldId id="1144" r:id="rId8"/>
    <p:sldId id="1163" r:id="rId9"/>
    <p:sldId id="1180" r:id="rId10"/>
    <p:sldId id="1179" r:id="rId11"/>
    <p:sldId id="1181" r:id="rId12"/>
    <p:sldId id="813" r:id="rId13"/>
    <p:sldId id="814" r:id="rId14"/>
    <p:sldId id="1177" r:id="rId15"/>
    <p:sldId id="1166" r:id="rId16"/>
    <p:sldId id="1167" r:id="rId17"/>
    <p:sldId id="1168" r:id="rId18"/>
    <p:sldId id="1169" r:id="rId19"/>
    <p:sldId id="1170" r:id="rId20"/>
    <p:sldId id="1176" r:id="rId21"/>
    <p:sldId id="1178" r:id="rId22"/>
    <p:sldId id="1185" r:id="rId23"/>
    <p:sldId id="1186" r:id="rId24"/>
    <p:sldId id="1151" r:id="rId25"/>
    <p:sldId id="792" r:id="rId26"/>
    <p:sldId id="1152" r:id="rId27"/>
    <p:sldId id="1154" r:id="rId28"/>
    <p:sldId id="1156" r:id="rId29"/>
    <p:sldId id="1183" r:id="rId30"/>
    <p:sldId id="1155" r:id="rId31"/>
    <p:sldId id="1189" r:id="rId32"/>
    <p:sldId id="1188" r:id="rId33"/>
    <p:sldId id="822" r:id="rId34"/>
    <p:sldId id="1184" r:id="rId35"/>
    <p:sldId id="1192" r:id="rId36"/>
    <p:sldId id="1191" r:id="rId37"/>
    <p:sldId id="1193" r:id="rId38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77869"/>
    <a:srgbClr val="A396A3"/>
    <a:srgbClr val="C8C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0D36F-A1F3-4EF4-9C2B-F83492128C7A}" v="423" dt="2026-02-04T23:05:04.334"/>
    <p1510:client id="{651F094D-3A27-48E3-8CF6-EB9D02017C8E}" v="2" dt="2026-02-04T15:05:42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61" autoAdjust="0"/>
  </p:normalViewPr>
  <p:slideViewPr>
    <p:cSldViewPr snapToGrid="0">
      <p:cViewPr varScale="1">
        <p:scale>
          <a:sx n="107" d="100"/>
          <a:sy n="107" d="100"/>
        </p:scale>
        <p:origin x="173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>
                <a:latin typeface="Source Sans Pro" charset="0"/>
                <a:ea typeface="Source Sans Pro" charset="0"/>
                <a:cs typeface="Source Sans Pro" charset="0"/>
              </a:rPr>
              <a:t>05.02.2026</a:t>
            </a:fld>
            <a:endParaRPr lang="nb-NO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>
                <a:latin typeface="Source Sans Pro" charset="0"/>
                <a:ea typeface="Source Sans Pro" charset="0"/>
                <a:cs typeface="Source Sans Pro" charset="0"/>
              </a:rPr>
              <a:t>‹#›</a:t>
            </a:fld>
            <a:endParaRPr lang="nb-NO"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69444867-3A3C-8F4F-AA72-C1B9EB729F72}" type="datetimeFigureOut">
              <a:rPr lang="nb-NO" smtClean="0"/>
              <a:pPr/>
              <a:t>05.02.2026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F45C457E-F630-C147-B67D-734B6B1CD9D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200" b="1" i="1" u="none" strike="noStrike" cap="none" dirty="0">
              <a:solidFill>
                <a:srgbClr val="434343"/>
              </a:solidFill>
              <a:highlight>
                <a:srgbClr val="9FC5E8"/>
              </a:highlight>
              <a:latin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997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419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379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4E4F-2497-EA40-6037-C9834A25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B85B0-F3CB-674D-0E4C-F2394D7A4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D14F9-AF75-ABB1-C885-9C20EED4E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D2F03-0348-232A-74F1-AA990301C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97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33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234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336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1D21-EB4D-D7CD-C819-8E5348B3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B3F3D-600E-B7B6-39E0-AE011733C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10C2E-10F3-E7A8-BF33-79930CAF4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4B30A-D4A5-4432-7FB1-CCF9F94F7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295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F88D-B000-E99F-2DFB-D67770D0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A13BE-1EE0-C27C-3F78-60F5744F8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7CB43-AF65-FE10-E4C8-6F70BCA08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D9C05-620A-3F01-37E5-8405E3C34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848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6FE9-A819-C68D-044B-5EFFD2DC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3AD05-CBC5-4678-C462-9B5DA053A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F4E50-2317-AEEE-BA3D-D0D963C9C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FCAA1-7129-2F56-D480-05A08C026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865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Which one is scalable?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457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47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49C77-D58C-B392-4953-2453A073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434FD-BEDD-493D-50AF-5F96DB963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F7D0C-E5C2-2B13-E84B-D5D3CB05B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919A8-5D21-7A53-89CF-C6E5225A2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772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7ED9-99EC-B8D9-1EF1-1DC91DF7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59066-0576-E3C2-09D6-EB519BF91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A8F9F-F5DE-0A53-F844-43245E758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22264-181A-B995-BD29-5F65E2BE4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146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D097-9298-775D-3E7C-8403BF8C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EC1BE-8BDD-124C-1324-BAF3C5886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B2105-3CFA-4365-A816-CD5B53789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F120C-2602-0907-459D-303A81BDB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83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94F9-69C8-46E1-5F2F-39602C28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0724F-8EDB-1B81-7366-43BDD39B3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49CF8-56B3-233F-A3D1-482582046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3ADC4-B951-681A-6258-F5041BF79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538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2D77-3E37-D821-57E3-90A54EF8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CA3DD-EC02-A790-6ED8-62FAFE20C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3CB24-902B-D163-1696-6A74C43D5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18FCA-7BDA-F883-AB5B-6396007E5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459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88FE-AEBF-120A-E1C4-4F907ECC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17010-76C7-E4BB-D132-B58EFF662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1BF86-16AC-B898-FBD9-78B82BE54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3A6B3-3244-3A27-37AE-874A71903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529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4EDB-66C8-8EB7-46FB-590B2A6B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07508-399F-C2ED-43BF-D1C7259CD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51CF1-CE74-416E-6A77-3B284622D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6E76E-23E1-A7B2-43EE-CF6604FA4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992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53EA-F027-6A83-AE2C-9B83617E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2F3F-B22A-0636-9CB0-8E62D35DC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6125F-B6EE-F343-BF6E-E91682C28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E2512-DD34-95E3-D12A-BDFE7E2BF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71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5834-1D08-7F84-C4A0-C8A87640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AA5B0-356C-506B-8EEB-B277FF66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01F8C-D7A6-481C-F053-2718C157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dirty="0">
                <a:effectLst/>
              </a:rPr>
              <a:t>Run‑time complexity</a:t>
            </a:r>
            <a:r>
              <a:rPr lang="en-US" dirty="0"/>
              <a:t> describes how fast a specific algorithm runs as the input grows.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2318-DBA1-CAAC-DAEE-B83E6EE3B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498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608B-A1EA-813F-9686-FDA16037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67FA0-21D7-97FD-DF55-C364A345A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9E2D0-320B-EFE9-17E1-AF8C29A41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dirty="0">
                <a:effectLst/>
              </a:rPr>
              <a:t>Run‑time complexity</a:t>
            </a:r>
            <a:r>
              <a:rPr lang="en-US" dirty="0"/>
              <a:t> describes how fast a specific algorithm runs as the input grows.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C2055-CA4F-2CB2-4A47-DBBDF06DF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624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0F0B-887F-4A94-82D1-68CD0C528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321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0F0B-887F-4A94-82D1-68CD0C528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38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05FE-6371-8437-0785-BBD42D75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8908A-A392-E2CC-104F-283F92AA1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95B26-2053-C7B9-3479-F4B51226A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27414-745D-AC24-178A-DF86277AD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0F0B-887F-4A94-82D1-68CD0C528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831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3067-49E5-9F7D-EFC9-FF3B9472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F4211-3607-0B41-3C3E-6FFEFA22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EFBE4-3DA4-62B8-8E73-33CF930A0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E7FAB-D442-1766-F4AA-0B6C4BD1E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0F0B-887F-4A94-82D1-68CD0C528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86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F328-2923-0C6F-06BF-49F53721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A36F8-BEF6-932F-E6F4-B68786D13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B81E8-7AE1-42DA-3669-1052EF4A9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9EFE0-E213-A77C-E885-B87739343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0F0B-887F-4A94-82D1-68CD0C528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24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E27D-CAE0-40F3-D131-87A6DE59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D7155-3BC2-2F59-CF10-9D3A88958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40ECF-A497-000D-1CE0-79143669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760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AAED-0741-6F96-9494-F65A0DE7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8F189-047F-34D7-5C50-78074F652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1D549-2DAD-F9CF-4E81-638E7437B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36BA0-EE05-8CB4-9F72-A626DB382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234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BED-529B-760E-40FE-FFD880DF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66E8F-02B3-8054-5FA8-1C82C9A0D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D9FA8-3845-67C9-E272-044D3F123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64319-06E6-FD5C-3EC4-452635AE9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230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002A-3BDD-BD51-E945-BC1BB4EB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671F9-8A4E-9B96-176E-EEA6B0025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3A759-5034-D565-D778-195530DDA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GB" dirty="0">
                <a:solidFill>
                  <a:srgbClr val="FF0000"/>
                </a:solidFill>
                <a:sym typeface="Arial"/>
              </a:rPr>
              <a:t>?</a:t>
            </a:r>
            <a:br>
              <a:rPr lang="en-GB" dirty="0">
                <a:solidFill>
                  <a:srgbClr val="FF0000"/>
                </a:solidFill>
                <a:sym typeface="Arial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677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3B4E-31F9-1EC3-D20F-A19B23FF0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2854-BBE1-8020-A217-4E4BF6A0E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F8DD3-0B8F-032A-B503-67FC4724C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AC208-B365-2A42-7A2A-0DC80858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3865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FDFF-EE4F-D863-40FE-2A16D8B8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85264-6EAD-93B8-5A73-4F2A10B73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F20D3-D87A-838D-937A-5F96D1733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72DA8-E08E-E2AD-3228-F4CB57269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857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73CC-5F20-DEFC-48E3-F9E1F6A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980F1-A498-87F5-9681-3E62A8D3B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3B825-646F-7ECC-AF69-40D1C7BCD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40805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A52D-E9BE-7C1A-ADFF-64BC2592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AA83B-62DE-9CD3-D401-C675CD4FC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28B1B-4403-F68A-48DB-747B231E9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B1B34-896D-8013-E1A7-F62D3E1F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9494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B7CE4-C2D7-79AF-442C-3E844976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C0DE0-62EB-4D75-94C8-221E8F964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9DE6-E7F2-C9D1-3E58-333DEE9E0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C58C-495E-5A03-2CD3-98595D6F3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0EA59-F685-4341-95BF-2A870ED7BE9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39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/>
            </a:lvl1pPr>
          </a:lstStyle>
          <a:p>
            <a:pPr rtl="0"/>
            <a:r>
              <a:rPr lang="nb-NO" err="1">
                <a:effectLst/>
              </a:rPr>
              <a:t>Click</a:t>
            </a:r>
            <a:r>
              <a:rPr lang="nb-NO">
                <a:effectLst/>
              </a:rPr>
              <a:t> to </a:t>
            </a:r>
            <a:r>
              <a:rPr lang="nb-NO" err="1">
                <a:effectLst/>
              </a:rPr>
              <a:t>edit</a:t>
            </a:r>
            <a:r>
              <a:rPr lang="nb-NO">
                <a:effectLst/>
              </a:rPr>
              <a:t> Master </a:t>
            </a:r>
            <a:r>
              <a:rPr lang="nb-NO" err="1">
                <a:effectLst/>
              </a:rPr>
              <a:t>text</a:t>
            </a:r>
            <a:r>
              <a:rPr lang="nb-NO">
                <a:effectLst/>
              </a:rPr>
              <a:t> styles</a:t>
            </a:r>
          </a:p>
          <a:p>
            <a:pPr lvl="1" rtl="0"/>
            <a:r>
              <a:rPr lang="nb-NO" err="1">
                <a:effectLst/>
              </a:rPr>
              <a:t>second</a:t>
            </a:r>
            <a:r>
              <a:rPr lang="nb-NO">
                <a:effectLst/>
              </a:rPr>
              <a:t> </a:t>
            </a:r>
            <a:r>
              <a:rPr lang="nb-NO" err="1">
                <a:effectLst/>
              </a:rPr>
              <a:t>level</a:t>
            </a:r>
            <a:endParaRPr lang="nb-NO">
              <a:effectLst/>
            </a:endParaRPr>
          </a:p>
          <a:p>
            <a:pPr lvl="2" rtl="0"/>
            <a:r>
              <a:rPr lang="nb-NO" err="1">
                <a:effectLst/>
              </a:rPr>
              <a:t>third</a:t>
            </a:r>
            <a:r>
              <a:rPr lang="nb-NO">
                <a:effectLst/>
              </a:rPr>
              <a:t> </a:t>
            </a:r>
            <a:r>
              <a:rPr lang="nb-NO" err="1">
                <a:effectLst/>
              </a:rPr>
              <a:t>level</a:t>
            </a:r>
            <a:endParaRPr lang="nb-NO">
              <a:effectLst/>
            </a:endParaRPr>
          </a:p>
          <a:p>
            <a:pPr lvl="3" rtl="0"/>
            <a:r>
              <a:rPr lang="nb-NO" err="1">
                <a:effectLst/>
              </a:rPr>
              <a:t>fourth</a:t>
            </a:r>
            <a:r>
              <a:rPr lang="nb-NO">
                <a:effectLst/>
              </a:rPr>
              <a:t> </a:t>
            </a:r>
            <a:r>
              <a:rPr lang="nb-NO" err="1">
                <a:effectLst/>
              </a:rPr>
              <a:t>level</a:t>
            </a:r>
            <a:endParaRPr lang="nb-NO">
              <a:effectLst/>
            </a:endParaRPr>
          </a:p>
          <a:p>
            <a:pPr lvl="4" rtl="0"/>
            <a:r>
              <a:rPr lang="nb-NO" err="1">
                <a:effectLst/>
              </a:rPr>
              <a:t>fifth</a:t>
            </a:r>
            <a:r>
              <a:rPr lang="nb-NO">
                <a:effectLst/>
              </a:rPr>
              <a:t> </a:t>
            </a:r>
            <a:r>
              <a:rPr lang="nb-NO" err="1">
                <a:effectLst/>
              </a:rPr>
              <a:t>level</a:t>
            </a:r>
            <a:endParaRPr lang="nb-NO">
              <a:effectLst/>
            </a:endParaRP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70F-5D0B-432B-8CB6-94AE7232FDCF}" type="datetime1">
              <a:rPr lang="en-GB" smtClean="0"/>
              <a:t>05/02/2026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pic>
        <p:nvPicPr>
          <p:cNvPr id="12" name="Bild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ABC1720-BBE7-4ED2-A748-0B0B5E624606}" type="datetime1">
              <a:rPr lang="en-GB" smtClean="0"/>
              <a:t>05/02/2026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F85544C-A64F-46E1-828A-8ACF70EEF61D}" type="datetime1">
              <a:rPr lang="en-GB" smtClean="0"/>
              <a:t>05/02/2026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3" name="Bild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D77869"/>
          </a:solidFill>
        </p:spPr>
      </p:pic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2E48AE-3F1D-46E6-B663-0F5509D24A0C}" type="datetime1">
              <a:rPr lang="en-GB" smtClean="0"/>
              <a:t>05/02/2026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3" name="Bild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A396A3"/>
          </a:solidFill>
        </p:spPr>
      </p:pic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20226FD-358E-4ADC-ABE6-F60619941BE9}" type="datetime1">
              <a:rPr lang="en-GB" smtClean="0"/>
              <a:t>05/02/2026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3" name="Bild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C8C2BE"/>
          </a:solidFill>
        </p:spPr>
      </p:pic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1AFB6F-D875-424D-8B5C-3A87BCDF1DF8}" type="datetime1">
              <a:rPr lang="en-GB" smtClean="0"/>
              <a:t>05/02/2026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0" y="39869"/>
            <a:ext cx="3417145" cy="7647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pic>
        <p:nvPicPr>
          <p:cNvPr id="8" name="Bild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FE1CC5-F763-4203-88EA-A0A5C23F733B}" type="datetime1">
              <a:rPr lang="en-GB" smtClean="0"/>
              <a:t>05/02/2026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pic>
        <p:nvPicPr>
          <p:cNvPr id="8" name="Bild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C1387F-BE82-4EB7-B373-719E61D2ABD9}" type="datetime1">
              <a:rPr lang="en-GB" smtClean="0"/>
              <a:t>05/02/2026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Kapittelside 1-Blaa">
    <p:bg>
      <p:bgPr>
        <a:solidFill>
          <a:srgbClr val="D778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pic>
        <p:nvPicPr>
          <p:cNvPr id="8" name="Bild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41C63-045B-4819-84EE-5A03A87D6EC1}" type="datetime1">
              <a:rPr lang="en-GB" smtClean="0"/>
              <a:t>05/02/2026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Kapittelside 1-Blaa">
    <p:bg>
      <p:bgPr>
        <a:solidFill>
          <a:srgbClr val="A396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pic>
        <p:nvPicPr>
          <p:cNvPr id="8" name="Bild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1" y="28922"/>
            <a:ext cx="3417145" cy="763052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8647246-056D-45F2-B028-70309AD2A0CC}" type="datetime1">
              <a:rPr lang="en-GB" smtClean="0"/>
              <a:t>05/02/2026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Kapittelside 1-Blaa">
    <p:bg>
      <p:bgPr>
        <a:solidFill>
          <a:srgbClr val="C8C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0F781A-ACF2-47F0-A995-45A6E6C9B8BF}" type="datetime1">
              <a:rPr lang="en-GB" smtClean="0"/>
              <a:t>05/02/2026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30" y="39869"/>
            <a:ext cx="3417145" cy="7647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9DDF-97E1-45FD-9152-40DB907767B4}" type="datetime1">
              <a:rPr lang="en-GB" smtClean="0"/>
              <a:t>05/02/2026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0A7D-02E1-4F5D-877D-7DC893712605}" type="datetime1">
              <a:rPr lang="en-GB" smtClean="0"/>
              <a:t>05/02/2026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AC3D-C2C1-4404-B067-2A8188640958}" type="datetime1">
              <a:rPr lang="en-GB" smtClean="0"/>
              <a:t>05/02/2026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C9A1-5734-43F8-A7E5-41F8827BAF70}" type="datetime1">
              <a:rPr lang="en-GB" smtClean="0"/>
              <a:t>05/02/2026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A298-8DC5-4179-81E0-3D5AB7D45EA3}" type="datetime1">
              <a:rPr lang="en-GB" smtClean="0"/>
              <a:t>05/02/2026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60" y="866979"/>
            <a:ext cx="6233814" cy="13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60" y="866979"/>
            <a:ext cx="6233814" cy="13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Hvileside 1-Blaa">
    <p:bg>
      <p:bgPr>
        <a:solidFill>
          <a:srgbClr val="D778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60" y="866979"/>
            <a:ext cx="6233814" cy="1392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A396A3"/>
          </a:solidFill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60" y="866979"/>
            <a:ext cx="6233814" cy="1392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Hvileside 1-Blaa">
    <p:bg>
      <p:bgPr>
        <a:solidFill>
          <a:srgbClr val="C8C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Bild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98" y="873128"/>
            <a:ext cx="6221242" cy="13923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/>
          <p:cNvSpPr>
            <a:spLocks noGrp="1"/>
          </p:cNvSpPr>
          <p:nvPr>
            <p:ph idx="1"/>
          </p:nvPr>
        </p:nvSpPr>
        <p:spPr bwMode="auto">
          <a:xfrm>
            <a:off x="250826" y="984648"/>
            <a:ext cx="8640763" cy="369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9" name="Titel 18"/>
          <p:cNvSpPr>
            <a:spLocks noGrp="1"/>
          </p:cNvSpPr>
          <p:nvPr>
            <p:ph type="title" hasCustomPrompt="1"/>
          </p:nvPr>
        </p:nvSpPr>
        <p:spPr>
          <a:xfrm>
            <a:off x="250826" y="224887"/>
            <a:ext cx="6548592" cy="538235"/>
          </a:xfrm>
        </p:spPr>
        <p:txBody>
          <a:bodyPr/>
          <a:lstStyle>
            <a:lvl1pPr>
              <a:defRPr b="1"/>
            </a:lvl1pPr>
          </a:lstStyle>
          <a:p>
            <a:r>
              <a:rPr lang="de-DE"/>
              <a:t>WP1 &lt;title&gt;</a:t>
            </a:r>
            <a:br>
              <a:rPr lang="de-DE"/>
            </a:br>
            <a:r>
              <a:rPr lang="de-DE" err="1"/>
              <a:t>Subtitle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Nga Dinh | Faculty of Computer Science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r>
              <a:rPr lang="de-DE"/>
              <a:t>Page </a:t>
            </a:r>
            <a:fld id="{B8053825-9DCD-4547-901E-B1C4BC2121BD}" type="slidenum">
              <a:rPr lang="de-DE" smtClean="0"/>
              <a:pPr algn="l"/>
              <a:t>‹#›</a:t>
            </a:fld>
            <a:endParaRPr lang="de-DE"/>
          </a:p>
        </p:txBody>
      </p:sp>
      <p:pic>
        <p:nvPicPr>
          <p:cNvPr id="9" name="Bild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3891" y="4768498"/>
            <a:ext cx="407698" cy="271913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9333" y="4766838"/>
            <a:ext cx="670379" cy="2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552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2409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F92B46-17CA-B197-2E0A-A71917466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2255E16D-D873-5E25-ED70-E7F67329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8DE40B5-F343-51C5-4615-BC0194D9E8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Nga Dinh | Faculty of Computer Science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09ADF14-F65E-1E9F-84B9-8BE1719A7D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r>
              <a:rPr lang="de-DE">
                <a:solidFill>
                  <a:srgbClr val="000000"/>
                </a:solidFill>
              </a:rPr>
              <a:t>Page </a:t>
            </a:r>
            <a:fld id="{B8053825-9DCD-4547-901E-B1C4BC2121BD}" type="slidenum">
              <a:rPr lang="de-DE" smtClean="0">
                <a:solidFill>
                  <a:srgbClr val="000000"/>
                </a:solidFill>
              </a:rPr>
              <a:pPr algn="l"/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62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edit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styles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nb-NO">
                <a:effectLst/>
              </a:rPr>
              <a:t>Klikk for å redigere tekststiler i malen</a:t>
            </a:r>
          </a:p>
          <a:p>
            <a:pPr lvl="1" rtl="0"/>
            <a:r>
              <a:rPr lang="nb-NO">
                <a:effectLst/>
              </a:rPr>
              <a:t>Andre nivå</a:t>
            </a:r>
          </a:p>
          <a:p>
            <a:pPr lvl="2" rtl="0"/>
            <a:r>
              <a:rPr lang="nb-NO">
                <a:effectLst/>
              </a:rPr>
              <a:t>Tredje nivå</a:t>
            </a:r>
          </a:p>
          <a:p>
            <a:pPr lvl="3" rtl="0"/>
            <a:r>
              <a:rPr lang="nb-NO">
                <a:effectLst/>
              </a:rPr>
              <a:t>Fjerde nivå</a:t>
            </a:r>
          </a:p>
          <a:p>
            <a:pPr lvl="4" rtl="0"/>
            <a:r>
              <a:rPr lang="nb-NO">
                <a:effectLst/>
              </a:rPr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2060C916-CF99-4297-B4F8-4120B6D79DDC}" type="datetime1">
              <a:rPr lang="en-GB" smtClean="0"/>
              <a:t>05/02/2026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en-US"/>
              <a:t>Nga Dinh | Faculty of Computer Science</a:t>
            </a:r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1" name="Bilde 1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28922"/>
            <a:ext cx="3417151" cy="76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706" r:id="rId4"/>
    <p:sldLayoutId id="2147483707" r:id="rId5"/>
    <p:sldLayoutId id="2147483708" r:id="rId6"/>
    <p:sldLayoutId id="2147483695" r:id="rId7"/>
    <p:sldLayoutId id="2147483696" r:id="rId8"/>
    <p:sldLayoutId id="2147483709" r:id="rId9"/>
    <p:sldLayoutId id="2147483710" r:id="rId10"/>
    <p:sldLayoutId id="2147483711" r:id="rId11"/>
    <p:sldLayoutId id="2147483697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12" r:id="rId20"/>
    <p:sldLayoutId id="2147483713" r:id="rId21"/>
    <p:sldLayoutId id="2147483714" r:id="rId22"/>
    <p:sldLayoutId id="2147483718" r:id="rId23"/>
    <p:sldLayoutId id="2147483721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28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28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28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28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28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itle Placeholder 8"/>
          <p:cNvSpPr>
            <a:spLocks noGrp="1"/>
          </p:cNvSpPr>
          <p:nvPr>
            <p:ph type="title"/>
          </p:nvPr>
        </p:nvSpPr>
        <p:spPr bwMode="auto">
          <a:xfrm>
            <a:off x="250853" y="224887"/>
            <a:ext cx="5131265" cy="538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Title </a:t>
            </a:r>
            <a:r>
              <a:rPr lang="de-DE" altLang="de-DE" err="1"/>
              <a:t>line</a:t>
            </a:r>
            <a:r>
              <a:rPr lang="de-DE" altLang="de-DE"/>
              <a:t> 1</a:t>
            </a:r>
            <a:br>
              <a:rPr lang="de-DE" altLang="de-DE"/>
            </a:br>
            <a:r>
              <a:rPr lang="de-DE" altLang="de-DE"/>
              <a:t>Title </a:t>
            </a:r>
            <a:r>
              <a:rPr lang="de-DE" altLang="de-DE" err="1"/>
              <a:t>line</a:t>
            </a:r>
            <a:r>
              <a:rPr lang="de-DE" altLang="de-DE"/>
              <a:t> 2</a:t>
            </a:r>
          </a:p>
        </p:txBody>
      </p:sp>
      <p:sp>
        <p:nvSpPr>
          <p:cNvPr id="1031" name="Text Placeholder 14"/>
          <p:cNvSpPr>
            <a:spLocks noGrp="1"/>
          </p:cNvSpPr>
          <p:nvPr>
            <p:ph type="body" idx="1"/>
          </p:nvPr>
        </p:nvSpPr>
        <p:spPr bwMode="auto">
          <a:xfrm>
            <a:off x="250854" y="984653"/>
            <a:ext cx="8640763" cy="369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>
          <a:xfrm>
            <a:off x="2107882" y="4677984"/>
            <a:ext cx="3086100" cy="333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 b="0" i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Nga Dinh | Faculty of Computer Science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250836" y="4678027"/>
            <a:ext cx="836687" cy="328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 b="1" i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algn="l"/>
            <a:r>
              <a:rPr lang="de-DE">
                <a:solidFill>
                  <a:srgbClr val="000000"/>
                </a:solidFill>
              </a:rPr>
              <a:t>Page </a:t>
            </a:r>
            <a:fld id="{B8053825-9DCD-4547-901E-B1C4BC2121BD}" type="slidenum">
              <a:rPr lang="de-DE" smtClean="0">
                <a:solidFill>
                  <a:srgbClr val="000000"/>
                </a:solidFill>
              </a:rPr>
              <a:pPr algn="l"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pic>
        <p:nvPicPr>
          <p:cNvPr id="2" name="Bild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618" y="224888"/>
            <a:ext cx="1500283" cy="27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800" b="1" i="0" baseline="0">
          <a:solidFill>
            <a:srgbClr val="065EA9"/>
          </a:solidFill>
          <a:latin typeface="Trebuchet MS" charset="0"/>
          <a:ea typeface="Trebuchet MS" charset="0"/>
          <a:cs typeface="Trebuchet MS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>
          <a:solidFill>
            <a:srgbClr val="00214A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>
          <a:solidFill>
            <a:srgbClr val="00214A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>
          <a:solidFill>
            <a:srgbClr val="00214A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>
          <a:solidFill>
            <a:srgbClr val="00214A"/>
          </a:solidFill>
          <a:latin typeface="Verdana" pitchFamily="34" charset="0"/>
        </a:defRPr>
      </a:lvl5pPr>
      <a:lvl6pPr marL="342364" algn="l" rtl="0" eaLnBrk="1" fontAlgn="base" hangingPunct="1">
        <a:spcBef>
          <a:spcPct val="0"/>
        </a:spcBef>
        <a:spcAft>
          <a:spcPct val="0"/>
        </a:spcAft>
        <a:defRPr sz="1950" b="1">
          <a:solidFill>
            <a:schemeClr val="tx2"/>
          </a:solidFill>
          <a:latin typeface="Arial" charset="0"/>
        </a:defRPr>
      </a:lvl6pPr>
      <a:lvl7pPr marL="684728" algn="l" rtl="0" eaLnBrk="1" fontAlgn="base" hangingPunct="1">
        <a:spcBef>
          <a:spcPct val="0"/>
        </a:spcBef>
        <a:spcAft>
          <a:spcPct val="0"/>
        </a:spcAft>
        <a:defRPr sz="1950" b="1">
          <a:solidFill>
            <a:schemeClr val="tx2"/>
          </a:solidFill>
          <a:latin typeface="Arial" charset="0"/>
        </a:defRPr>
      </a:lvl7pPr>
      <a:lvl8pPr marL="1027092" algn="l" rtl="0" eaLnBrk="1" fontAlgn="base" hangingPunct="1">
        <a:spcBef>
          <a:spcPct val="0"/>
        </a:spcBef>
        <a:spcAft>
          <a:spcPct val="0"/>
        </a:spcAft>
        <a:defRPr sz="1950" b="1">
          <a:solidFill>
            <a:schemeClr val="tx2"/>
          </a:solidFill>
          <a:latin typeface="Arial" charset="0"/>
        </a:defRPr>
      </a:lvl8pPr>
      <a:lvl9pPr marL="1369458" algn="l" rtl="0" eaLnBrk="1" fontAlgn="base" hangingPunct="1">
        <a:spcBef>
          <a:spcPct val="0"/>
        </a:spcBef>
        <a:spcAft>
          <a:spcPct val="0"/>
        </a:spcAft>
        <a:defRPr sz="1950" b="1">
          <a:solidFill>
            <a:schemeClr val="tx2"/>
          </a:solidFill>
          <a:latin typeface="Arial" charset="0"/>
        </a:defRPr>
      </a:lvl9pPr>
    </p:titleStyle>
    <p:bodyStyle>
      <a:lvl1pPr marL="200025" indent="-200025" algn="l" rtl="0" eaLnBrk="0" fontAlgn="base" hangingPunct="0">
        <a:spcBef>
          <a:spcPts val="450"/>
        </a:spcBef>
        <a:spcAft>
          <a:spcPts val="450"/>
        </a:spcAft>
        <a:buClr>
          <a:schemeClr val="tx1"/>
        </a:buClr>
        <a:buFont typeface="Wingdings" charset="2"/>
        <a:buChar char="§"/>
        <a:defRPr sz="1500" b="0" i="0">
          <a:solidFill>
            <a:schemeClr val="tx1"/>
          </a:solidFill>
          <a:latin typeface="Trebuchet MS" charset="0"/>
          <a:ea typeface="Trebuchet MS" charset="0"/>
          <a:cs typeface="Trebuchet MS" charset="0"/>
        </a:defRPr>
      </a:lvl1pPr>
      <a:lvl2pPr marL="402431" indent="-201216" algn="l" rtl="0" eaLnBrk="0" fontAlgn="base" hangingPunct="0">
        <a:spcBef>
          <a:spcPts val="450"/>
        </a:spcBef>
        <a:spcAft>
          <a:spcPts val="450"/>
        </a:spcAft>
        <a:buClr>
          <a:schemeClr val="tx1"/>
        </a:buClr>
        <a:buFont typeface="Wingdings" charset="2"/>
        <a:buChar char="§"/>
        <a:defRPr sz="1500" b="0" i="0">
          <a:solidFill>
            <a:schemeClr val="tx1"/>
          </a:solidFill>
          <a:latin typeface="Trebuchet MS" charset="0"/>
          <a:ea typeface="Trebuchet MS" charset="0"/>
          <a:cs typeface="Trebuchet MS" charset="0"/>
        </a:defRPr>
      </a:lvl2pPr>
      <a:lvl3pPr marL="606029" indent="-200025" algn="l" rtl="0" eaLnBrk="0" fontAlgn="base" hangingPunct="0">
        <a:spcBef>
          <a:spcPts val="450"/>
        </a:spcBef>
        <a:spcAft>
          <a:spcPts val="450"/>
        </a:spcAft>
        <a:buClr>
          <a:schemeClr val="tx1"/>
        </a:buClr>
        <a:buFont typeface="Wingdings" charset="2"/>
        <a:buChar char="§"/>
        <a:defRPr b="0" i="0">
          <a:solidFill>
            <a:schemeClr val="tx1"/>
          </a:solidFill>
          <a:latin typeface="Trebuchet MS" charset="0"/>
          <a:ea typeface="Trebuchet MS" charset="0"/>
          <a:cs typeface="Trebuchet MS" charset="0"/>
        </a:defRPr>
      </a:lvl3pPr>
      <a:lvl4pPr marL="807244" indent="-201216" algn="l" rtl="0" eaLnBrk="0" fontAlgn="base" hangingPunct="0">
        <a:spcBef>
          <a:spcPts val="450"/>
        </a:spcBef>
        <a:spcAft>
          <a:spcPts val="450"/>
        </a:spcAft>
        <a:buClr>
          <a:schemeClr val="tx1"/>
        </a:buClr>
        <a:buFont typeface="Wingdings" charset="2"/>
        <a:buChar char="§"/>
        <a:defRPr sz="1200" b="0" i="0">
          <a:solidFill>
            <a:schemeClr val="tx1"/>
          </a:solidFill>
          <a:latin typeface="Trebuchet MS" charset="0"/>
          <a:ea typeface="Trebuchet MS" charset="0"/>
          <a:cs typeface="Trebuchet MS" charset="0"/>
        </a:defRPr>
      </a:lvl4pPr>
      <a:lvl5pPr marL="1009650" indent="-201216" algn="l" rtl="0" eaLnBrk="0" fontAlgn="base" hangingPunct="0">
        <a:spcBef>
          <a:spcPts val="450"/>
        </a:spcBef>
        <a:spcAft>
          <a:spcPts val="450"/>
        </a:spcAft>
        <a:buClr>
          <a:schemeClr val="tx1"/>
        </a:buClr>
        <a:buFont typeface="Wingdings" charset="2"/>
        <a:buChar char="§"/>
        <a:defRPr sz="1050" b="0" i="0">
          <a:solidFill>
            <a:schemeClr val="tx1"/>
          </a:solidFill>
          <a:latin typeface="Trebuchet MS" charset="0"/>
          <a:ea typeface="Trebuchet MS" charset="0"/>
          <a:cs typeface="Trebuchet MS" charset="0"/>
        </a:defRPr>
      </a:lvl5pPr>
      <a:lvl6pPr marL="1540643" indent="-171182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1500">
          <a:solidFill>
            <a:srgbClr val="666666"/>
          </a:solidFill>
          <a:latin typeface="+mn-lt"/>
        </a:defRPr>
      </a:lvl6pPr>
      <a:lvl7pPr marL="1883009" indent="-171182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1500">
          <a:solidFill>
            <a:srgbClr val="666666"/>
          </a:solidFill>
          <a:latin typeface="+mn-lt"/>
        </a:defRPr>
      </a:lvl7pPr>
      <a:lvl8pPr marL="2225375" indent="-171182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1500">
          <a:solidFill>
            <a:srgbClr val="666666"/>
          </a:solidFill>
          <a:latin typeface="+mn-lt"/>
        </a:defRPr>
      </a:lvl8pPr>
      <a:lvl9pPr marL="2567741" indent="-171182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1500">
          <a:solidFill>
            <a:srgbClr val="666666"/>
          </a:solidFill>
          <a:latin typeface="+mn-lt"/>
        </a:defRPr>
      </a:lvl9pPr>
    </p:bodyStyle>
    <p:otherStyle>
      <a:defPPr>
        <a:defRPr lang="de-DE"/>
      </a:defPPr>
      <a:lvl1pPr marL="0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364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4728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7092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69458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1826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4192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6558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38924" algn="l" defTabSz="6847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DF7617-2B74-4538-BA27-77A5D203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21" y="1252889"/>
            <a:ext cx="8518358" cy="1998578"/>
          </a:xfrm>
        </p:spPr>
        <p:txBody>
          <a:bodyPr>
            <a:normAutofit/>
          </a:bodyPr>
          <a:lstStyle/>
          <a:p>
            <a:r>
              <a:rPr lang="en-GB" sz="3600" dirty="0"/>
              <a:t>When to Use Parallel Programming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3A4A1-3926-4132-B7FD-568555F13256}"/>
              </a:ext>
            </a:extLst>
          </p:cNvPr>
          <p:cNvSpPr/>
          <p:nvPr/>
        </p:nvSpPr>
        <p:spPr>
          <a:xfrm>
            <a:off x="95198" y="198365"/>
            <a:ext cx="28777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ITF23019, Spring 2026</a:t>
            </a:r>
            <a:endParaRPr lang="en-GB" sz="2000" b="1" i="0" dirty="0">
              <a:solidFill>
                <a:schemeClr val="tx2">
                  <a:lumMod val="50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190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to Use Parallel Programming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EC405-23A9-43B1-9210-C15550945351}"/>
              </a:ext>
            </a:extLst>
          </p:cNvPr>
          <p:cNvSpPr/>
          <p:nvPr/>
        </p:nvSpPr>
        <p:spPr>
          <a:xfrm>
            <a:off x="543293" y="1631198"/>
            <a:ext cx="1244347" cy="28371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F75E7AC-26B0-4ED4-9639-60729A383293}"/>
              </a:ext>
            </a:extLst>
          </p:cNvPr>
          <p:cNvSpPr txBox="1">
            <a:spLocks/>
          </p:cNvSpPr>
          <p:nvPr/>
        </p:nvSpPr>
        <p:spPr>
          <a:xfrm>
            <a:off x="669406" y="2605020"/>
            <a:ext cx="1424538" cy="10747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1 Big</a:t>
            </a:r>
          </a:p>
          <a:p>
            <a:pPr marL="0" indent="0">
              <a:buNone/>
            </a:pPr>
            <a:r>
              <a:rPr lang="en-US" sz="1800"/>
              <a:t>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2670A-9CB2-4AA9-B85E-EED93DE18E29}"/>
              </a:ext>
            </a:extLst>
          </p:cNvPr>
          <p:cNvSpPr/>
          <p:nvPr/>
        </p:nvSpPr>
        <p:spPr>
          <a:xfrm rot="16200000">
            <a:off x="2727640" y="1446294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882C1E-EADB-45CD-801E-9ACA6EEB010B}"/>
              </a:ext>
            </a:extLst>
          </p:cNvPr>
          <p:cNvCxnSpPr/>
          <p:nvPr/>
        </p:nvCxnSpPr>
        <p:spPr>
          <a:xfrm>
            <a:off x="1882385" y="1797616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B30EFE-D869-4333-94CE-FF7B3BC837FD}"/>
              </a:ext>
            </a:extLst>
          </p:cNvPr>
          <p:cNvSpPr/>
          <p:nvPr/>
        </p:nvSpPr>
        <p:spPr>
          <a:xfrm rot="16200000">
            <a:off x="2734306" y="218874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DB5CEC-DA74-412C-BC4E-736796DBBDF6}"/>
              </a:ext>
            </a:extLst>
          </p:cNvPr>
          <p:cNvCxnSpPr/>
          <p:nvPr/>
        </p:nvCxnSpPr>
        <p:spPr>
          <a:xfrm>
            <a:off x="1889051" y="254006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8CA0-9C01-440C-B010-FB381A5A9FC9}"/>
              </a:ext>
            </a:extLst>
          </p:cNvPr>
          <p:cNvSpPr/>
          <p:nvPr/>
        </p:nvSpPr>
        <p:spPr>
          <a:xfrm rot="16200000">
            <a:off x="2704842" y="384952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BC2FD6-B94C-4829-8340-32BE23E7366D}"/>
              </a:ext>
            </a:extLst>
          </p:cNvPr>
          <p:cNvCxnSpPr/>
          <p:nvPr/>
        </p:nvCxnSpPr>
        <p:spPr>
          <a:xfrm>
            <a:off x="1859587" y="420084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8144861-599C-494E-8B58-5E2BD92CF748}"/>
              </a:ext>
            </a:extLst>
          </p:cNvPr>
          <p:cNvSpPr txBox="1">
            <a:spLocks/>
          </p:cNvSpPr>
          <p:nvPr/>
        </p:nvSpPr>
        <p:spPr>
          <a:xfrm>
            <a:off x="2205755" y="1267990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/>
              <a:t>Sub-problem 1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553640D-C2B9-4180-9A60-BF4B2EB13EBE}"/>
              </a:ext>
            </a:extLst>
          </p:cNvPr>
          <p:cNvSpPr txBox="1">
            <a:spLocks/>
          </p:cNvSpPr>
          <p:nvPr/>
        </p:nvSpPr>
        <p:spPr>
          <a:xfrm>
            <a:off x="2205754" y="2115724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/>
              <a:t>Sub-problem 2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A4631EDC-8395-46A6-8BEC-09A97CEC58FC}"/>
              </a:ext>
            </a:extLst>
          </p:cNvPr>
          <p:cNvSpPr txBox="1">
            <a:spLocks/>
          </p:cNvSpPr>
          <p:nvPr/>
        </p:nvSpPr>
        <p:spPr>
          <a:xfrm>
            <a:off x="1983856" y="2937026"/>
            <a:ext cx="843164" cy="485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…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30D84377-20EE-436A-92E7-CC5F686764D8}"/>
              </a:ext>
            </a:extLst>
          </p:cNvPr>
          <p:cNvSpPr txBox="1">
            <a:spLocks/>
          </p:cNvSpPr>
          <p:nvPr/>
        </p:nvSpPr>
        <p:spPr>
          <a:xfrm>
            <a:off x="2158558" y="3690337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/>
              <a:t>Sub-problem N</a:t>
            </a:r>
          </a:p>
        </p:txBody>
      </p:sp>
    </p:spTree>
    <p:extLst>
      <p:ext uri="{BB962C8B-B14F-4D97-AF65-F5344CB8AC3E}">
        <p14:creationId xmlns:p14="http://schemas.microsoft.com/office/powerpoint/2010/main" val="235879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to Use Parallel Programming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EC405-23A9-43B1-9210-C15550945351}"/>
              </a:ext>
            </a:extLst>
          </p:cNvPr>
          <p:cNvSpPr/>
          <p:nvPr/>
        </p:nvSpPr>
        <p:spPr>
          <a:xfrm>
            <a:off x="543293" y="1631198"/>
            <a:ext cx="1244347" cy="28371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F75E7AC-26B0-4ED4-9639-60729A383293}"/>
              </a:ext>
            </a:extLst>
          </p:cNvPr>
          <p:cNvSpPr txBox="1">
            <a:spLocks/>
          </p:cNvSpPr>
          <p:nvPr/>
        </p:nvSpPr>
        <p:spPr>
          <a:xfrm>
            <a:off x="669406" y="2605020"/>
            <a:ext cx="1424538" cy="10747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1 Big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2670A-9CB2-4AA9-B85E-EED93DE18E29}"/>
              </a:ext>
            </a:extLst>
          </p:cNvPr>
          <p:cNvSpPr/>
          <p:nvPr/>
        </p:nvSpPr>
        <p:spPr>
          <a:xfrm rot="16200000">
            <a:off x="2727640" y="1446294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882C1E-EADB-45CD-801E-9ACA6EEB010B}"/>
              </a:ext>
            </a:extLst>
          </p:cNvPr>
          <p:cNvCxnSpPr/>
          <p:nvPr/>
        </p:nvCxnSpPr>
        <p:spPr>
          <a:xfrm>
            <a:off x="1882385" y="1797616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AB30EFE-D869-4333-94CE-FF7B3BC837FD}"/>
              </a:ext>
            </a:extLst>
          </p:cNvPr>
          <p:cNvSpPr/>
          <p:nvPr/>
        </p:nvSpPr>
        <p:spPr>
          <a:xfrm rot="16200000">
            <a:off x="2734306" y="218874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DB5CEC-DA74-412C-BC4E-736796DBBDF6}"/>
              </a:ext>
            </a:extLst>
          </p:cNvPr>
          <p:cNvCxnSpPr/>
          <p:nvPr/>
        </p:nvCxnSpPr>
        <p:spPr>
          <a:xfrm>
            <a:off x="1889051" y="254006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8CA0-9C01-440C-B010-FB381A5A9FC9}"/>
              </a:ext>
            </a:extLst>
          </p:cNvPr>
          <p:cNvSpPr/>
          <p:nvPr/>
        </p:nvSpPr>
        <p:spPr>
          <a:xfrm rot="16200000">
            <a:off x="2704842" y="384952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BC2FD6-B94C-4829-8340-32BE23E7366D}"/>
              </a:ext>
            </a:extLst>
          </p:cNvPr>
          <p:cNvCxnSpPr/>
          <p:nvPr/>
        </p:nvCxnSpPr>
        <p:spPr>
          <a:xfrm>
            <a:off x="1859587" y="420084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8144861-599C-494E-8B58-5E2BD92CF748}"/>
              </a:ext>
            </a:extLst>
          </p:cNvPr>
          <p:cNvSpPr txBox="1">
            <a:spLocks/>
          </p:cNvSpPr>
          <p:nvPr/>
        </p:nvSpPr>
        <p:spPr>
          <a:xfrm>
            <a:off x="2205755" y="1267990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1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553640D-C2B9-4180-9A60-BF4B2EB13EBE}"/>
              </a:ext>
            </a:extLst>
          </p:cNvPr>
          <p:cNvSpPr txBox="1">
            <a:spLocks/>
          </p:cNvSpPr>
          <p:nvPr/>
        </p:nvSpPr>
        <p:spPr>
          <a:xfrm>
            <a:off x="2205754" y="2115724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2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A4631EDC-8395-46A6-8BEC-09A97CEC58FC}"/>
              </a:ext>
            </a:extLst>
          </p:cNvPr>
          <p:cNvSpPr txBox="1">
            <a:spLocks/>
          </p:cNvSpPr>
          <p:nvPr/>
        </p:nvSpPr>
        <p:spPr>
          <a:xfrm>
            <a:off x="1983856" y="2937026"/>
            <a:ext cx="843164" cy="485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…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30D84377-20EE-436A-92E7-CC5F686764D8}"/>
              </a:ext>
            </a:extLst>
          </p:cNvPr>
          <p:cNvSpPr txBox="1">
            <a:spLocks/>
          </p:cNvSpPr>
          <p:nvPr/>
        </p:nvSpPr>
        <p:spPr>
          <a:xfrm>
            <a:off x="2158558" y="3690337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2FA28644-E8F9-4E66-A3F0-EE3E37D24964}"/>
              </a:ext>
            </a:extLst>
          </p:cNvPr>
          <p:cNvSpPr/>
          <p:nvPr/>
        </p:nvSpPr>
        <p:spPr>
          <a:xfrm>
            <a:off x="4343400" y="1589624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8C66244-6B76-4822-AF7C-57F1A0AA5A40}"/>
              </a:ext>
            </a:extLst>
          </p:cNvPr>
          <p:cNvSpPr txBox="1">
            <a:spLocks/>
          </p:cNvSpPr>
          <p:nvPr/>
        </p:nvSpPr>
        <p:spPr>
          <a:xfrm>
            <a:off x="5039101" y="1272436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9A822F-7273-426B-B36A-3BCEABC8F661}"/>
              </a:ext>
            </a:extLst>
          </p:cNvPr>
          <p:cNvCxnSpPr>
            <a:cxnSpLocks/>
          </p:cNvCxnSpPr>
          <p:nvPr/>
        </p:nvCxnSpPr>
        <p:spPr>
          <a:xfrm>
            <a:off x="3408394" y="1797616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101E7DD3-EF64-429F-8212-0047FD957C4E}"/>
              </a:ext>
            </a:extLst>
          </p:cNvPr>
          <p:cNvSpPr/>
          <p:nvPr/>
        </p:nvSpPr>
        <p:spPr>
          <a:xfrm>
            <a:off x="4411820" y="2322794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5E0F06C6-6807-4F7F-B22B-30CD3980B1F4}"/>
              </a:ext>
            </a:extLst>
          </p:cNvPr>
          <p:cNvSpPr txBox="1">
            <a:spLocks/>
          </p:cNvSpPr>
          <p:nvPr/>
        </p:nvSpPr>
        <p:spPr>
          <a:xfrm>
            <a:off x="5107521" y="2062239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CB6A03-200F-42AC-BCC9-80B85FA51F3D}"/>
              </a:ext>
            </a:extLst>
          </p:cNvPr>
          <p:cNvCxnSpPr>
            <a:cxnSpLocks/>
          </p:cNvCxnSpPr>
          <p:nvPr/>
        </p:nvCxnSpPr>
        <p:spPr>
          <a:xfrm>
            <a:off x="3408394" y="2579113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5BEBF936-8F35-436E-8534-9FF7FFCE81A3}"/>
              </a:ext>
            </a:extLst>
          </p:cNvPr>
          <p:cNvSpPr/>
          <p:nvPr/>
        </p:nvSpPr>
        <p:spPr>
          <a:xfrm>
            <a:off x="4335160" y="4011790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502BD1FC-7939-4AE8-89AC-1917CE31CF2A}"/>
              </a:ext>
            </a:extLst>
          </p:cNvPr>
          <p:cNvSpPr txBox="1">
            <a:spLocks/>
          </p:cNvSpPr>
          <p:nvPr/>
        </p:nvSpPr>
        <p:spPr>
          <a:xfrm>
            <a:off x="5030861" y="3694602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AF5F1C-7BBB-4B8E-B631-AFA343E51438}"/>
              </a:ext>
            </a:extLst>
          </p:cNvPr>
          <p:cNvCxnSpPr>
            <a:cxnSpLocks/>
          </p:cNvCxnSpPr>
          <p:nvPr/>
        </p:nvCxnSpPr>
        <p:spPr>
          <a:xfrm>
            <a:off x="3400154" y="4219782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C5578A37-9BB6-4D10-BC20-34E333CA49D9}"/>
              </a:ext>
            </a:extLst>
          </p:cNvPr>
          <p:cNvSpPr txBox="1">
            <a:spLocks/>
          </p:cNvSpPr>
          <p:nvPr/>
        </p:nvSpPr>
        <p:spPr>
          <a:xfrm>
            <a:off x="4923144" y="3077512"/>
            <a:ext cx="843164" cy="485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1439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CE15-64EC-CFB7-31A9-F7920C8A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FB7D-71CE-4DDB-2FC1-CFFF9AB1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to Use Parallel Programming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BB8F7-A8E5-B876-ED30-755EAE98D6FB}"/>
              </a:ext>
            </a:extLst>
          </p:cNvPr>
          <p:cNvSpPr/>
          <p:nvPr/>
        </p:nvSpPr>
        <p:spPr>
          <a:xfrm>
            <a:off x="543293" y="1631198"/>
            <a:ext cx="1244347" cy="28371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0E0EFB81-B958-1925-3ABF-D46B973A0B18}"/>
              </a:ext>
            </a:extLst>
          </p:cNvPr>
          <p:cNvSpPr txBox="1">
            <a:spLocks/>
          </p:cNvSpPr>
          <p:nvPr/>
        </p:nvSpPr>
        <p:spPr>
          <a:xfrm>
            <a:off x="669406" y="2605020"/>
            <a:ext cx="1424538" cy="10747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1 Big</a:t>
            </a:r>
          </a:p>
          <a:p>
            <a:pPr marL="0" indent="0">
              <a:buNone/>
            </a:pPr>
            <a:r>
              <a:rPr lang="en-US" sz="1800" dirty="0"/>
              <a:t>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B3827-54C2-AF69-E5B3-6716DEA9EC01}"/>
              </a:ext>
            </a:extLst>
          </p:cNvPr>
          <p:cNvSpPr/>
          <p:nvPr/>
        </p:nvSpPr>
        <p:spPr>
          <a:xfrm rot="16200000">
            <a:off x="2727640" y="1446294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46A230-4486-46BF-A201-9E2278242AEE}"/>
              </a:ext>
            </a:extLst>
          </p:cNvPr>
          <p:cNvCxnSpPr/>
          <p:nvPr/>
        </p:nvCxnSpPr>
        <p:spPr>
          <a:xfrm>
            <a:off x="1882385" y="1797616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EE7E25-2F64-8B54-199F-EAF9F2F2134C}"/>
              </a:ext>
            </a:extLst>
          </p:cNvPr>
          <p:cNvSpPr/>
          <p:nvPr/>
        </p:nvSpPr>
        <p:spPr>
          <a:xfrm rot="16200000">
            <a:off x="2734306" y="218874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29EFAD-0716-F31E-B881-175897F4331D}"/>
              </a:ext>
            </a:extLst>
          </p:cNvPr>
          <p:cNvCxnSpPr/>
          <p:nvPr/>
        </p:nvCxnSpPr>
        <p:spPr>
          <a:xfrm>
            <a:off x="1889051" y="254006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352D8-6F28-8D48-6B09-B94F379E1F80}"/>
              </a:ext>
            </a:extLst>
          </p:cNvPr>
          <p:cNvSpPr/>
          <p:nvPr/>
        </p:nvSpPr>
        <p:spPr>
          <a:xfrm rot="16200000">
            <a:off x="2704842" y="3849525"/>
            <a:ext cx="279654" cy="7026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D71C96-5D78-4EAE-7DE4-7AA6BAF4CC7D}"/>
              </a:ext>
            </a:extLst>
          </p:cNvPr>
          <p:cNvCxnSpPr/>
          <p:nvPr/>
        </p:nvCxnSpPr>
        <p:spPr>
          <a:xfrm>
            <a:off x="1859587" y="4200847"/>
            <a:ext cx="53901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0993A1D8-239C-99C4-CA15-0CD627A4C035}"/>
              </a:ext>
            </a:extLst>
          </p:cNvPr>
          <p:cNvSpPr txBox="1">
            <a:spLocks/>
          </p:cNvSpPr>
          <p:nvPr/>
        </p:nvSpPr>
        <p:spPr>
          <a:xfrm>
            <a:off x="2205755" y="1267990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1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3E41982-4177-8387-4B43-5F3CA8076CD0}"/>
              </a:ext>
            </a:extLst>
          </p:cNvPr>
          <p:cNvSpPr txBox="1">
            <a:spLocks/>
          </p:cNvSpPr>
          <p:nvPr/>
        </p:nvSpPr>
        <p:spPr>
          <a:xfrm>
            <a:off x="2205754" y="2115724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2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44C4780-4460-6E51-F145-46C6E33DB4E8}"/>
              </a:ext>
            </a:extLst>
          </p:cNvPr>
          <p:cNvSpPr txBox="1">
            <a:spLocks/>
          </p:cNvSpPr>
          <p:nvPr/>
        </p:nvSpPr>
        <p:spPr>
          <a:xfrm>
            <a:off x="1983856" y="2937026"/>
            <a:ext cx="843164" cy="485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…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DD16C3EA-AA8E-8E05-95F7-7AA6C86FA1AC}"/>
              </a:ext>
            </a:extLst>
          </p:cNvPr>
          <p:cNvSpPr txBox="1">
            <a:spLocks/>
          </p:cNvSpPr>
          <p:nvPr/>
        </p:nvSpPr>
        <p:spPr>
          <a:xfrm>
            <a:off x="2158558" y="3690337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Sub-problem 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0F3CFE40-2AA0-A3BB-F84F-3D4A134A15D0}"/>
              </a:ext>
            </a:extLst>
          </p:cNvPr>
          <p:cNvSpPr/>
          <p:nvPr/>
        </p:nvSpPr>
        <p:spPr>
          <a:xfrm>
            <a:off x="4343400" y="1589624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AD2769FA-06B3-9523-1579-0469652009A5}"/>
              </a:ext>
            </a:extLst>
          </p:cNvPr>
          <p:cNvSpPr txBox="1">
            <a:spLocks/>
          </p:cNvSpPr>
          <p:nvPr/>
        </p:nvSpPr>
        <p:spPr>
          <a:xfrm>
            <a:off x="5039101" y="1272436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D0512D-B42D-1A5F-B252-555E52D368EF}"/>
              </a:ext>
            </a:extLst>
          </p:cNvPr>
          <p:cNvCxnSpPr>
            <a:cxnSpLocks/>
          </p:cNvCxnSpPr>
          <p:nvPr/>
        </p:nvCxnSpPr>
        <p:spPr>
          <a:xfrm>
            <a:off x="3408394" y="1797616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4D09B1FB-6C6B-DE32-EBA7-41E51FF8B820}"/>
              </a:ext>
            </a:extLst>
          </p:cNvPr>
          <p:cNvSpPr/>
          <p:nvPr/>
        </p:nvSpPr>
        <p:spPr>
          <a:xfrm>
            <a:off x="4411820" y="2322794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A75F10E9-5BE0-0F87-3680-834F16AA07B2}"/>
              </a:ext>
            </a:extLst>
          </p:cNvPr>
          <p:cNvSpPr txBox="1">
            <a:spLocks/>
          </p:cNvSpPr>
          <p:nvPr/>
        </p:nvSpPr>
        <p:spPr>
          <a:xfrm>
            <a:off x="5107521" y="2062239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D89193-FE31-C5CC-72D8-9122899FB0D8}"/>
              </a:ext>
            </a:extLst>
          </p:cNvPr>
          <p:cNvCxnSpPr>
            <a:cxnSpLocks/>
          </p:cNvCxnSpPr>
          <p:nvPr/>
        </p:nvCxnSpPr>
        <p:spPr>
          <a:xfrm>
            <a:off x="3408394" y="2579113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98607CF7-F29B-23C9-B5D6-975653864342}"/>
              </a:ext>
            </a:extLst>
          </p:cNvPr>
          <p:cNvSpPr/>
          <p:nvPr/>
        </p:nvSpPr>
        <p:spPr>
          <a:xfrm>
            <a:off x="4335160" y="4011790"/>
            <a:ext cx="2918215" cy="415982"/>
          </a:xfrm>
          <a:prstGeom prst="flowChartTerminator">
            <a:avLst/>
          </a:prstGeom>
          <a:gradFill>
            <a:gsLst>
              <a:gs pos="100000">
                <a:schemeClr val="accent3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29248210-AC68-EF61-3CA2-404C1BCD5B7B}"/>
              </a:ext>
            </a:extLst>
          </p:cNvPr>
          <p:cNvSpPr txBox="1">
            <a:spLocks/>
          </p:cNvSpPr>
          <p:nvPr/>
        </p:nvSpPr>
        <p:spPr>
          <a:xfrm>
            <a:off x="5030861" y="3694602"/>
            <a:ext cx="1470895" cy="4159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Core 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3157CE-962A-F89F-EE63-A2BF7E12CB8D}"/>
              </a:ext>
            </a:extLst>
          </p:cNvPr>
          <p:cNvCxnSpPr>
            <a:cxnSpLocks/>
          </p:cNvCxnSpPr>
          <p:nvPr/>
        </p:nvCxnSpPr>
        <p:spPr>
          <a:xfrm>
            <a:off x="3400154" y="4219782"/>
            <a:ext cx="7826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F89DAB12-0634-F1E4-8695-53CF74304989}"/>
              </a:ext>
            </a:extLst>
          </p:cNvPr>
          <p:cNvSpPr txBox="1">
            <a:spLocks/>
          </p:cNvSpPr>
          <p:nvPr/>
        </p:nvSpPr>
        <p:spPr>
          <a:xfrm>
            <a:off x="4923144" y="3077512"/>
            <a:ext cx="843164" cy="485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…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A68B5D52-D434-7B8F-78FB-7F4E5F95B57E}"/>
              </a:ext>
            </a:extLst>
          </p:cNvPr>
          <p:cNvSpPr txBox="1">
            <a:spLocks/>
          </p:cNvSpPr>
          <p:nvPr/>
        </p:nvSpPr>
        <p:spPr>
          <a:xfrm>
            <a:off x="7430262" y="2105815"/>
            <a:ext cx="1713738" cy="26330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How can we say that a problem is big?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36A968C6-5081-826C-669C-6C57038513A1}"/>
              </a:ext>
            </a:extLst>
          </p:cNvPr>
          <p:cNvSpPr/>
          <p:nvPr/>
        </p:nvSpPr>
        <p:spPr>
          <a:xfrm>
            <a:off x="7426581" y="2048724"/>
            <a:ext cx="1586385" cy="15141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80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Impact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1FF1-B3AF-4D75-8010-D0E7765C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Time Complexity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Data size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r>
              <a:rPr lang="en-GB" dirty="0">
                <a:solidFill>
                  <a:srgbClr val="FF0000"/>
                </a:solidFill>
                <a:sym typeface="Arial"/>
              </a:rPr>
              <a:t>Whether or not the problem can be parallelized?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859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BBB5-53B1-4C16-8068-DC036925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49" y="2053000"/>
            <a:ext cx="6269969" cy="11487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164259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1FF1-B3AF-4D75-8010-D0E7765C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US" dirty="0"/>
              <a:t>Time complexity is a measure that characterizes the </a:t>
            </a:r>
            <a:r>
              <a:rPr lang="en-US" dirty="0">
                <a:solidFill>
                  <a:srgbClr val="FF0000"/>
                </a:solidFill>
              </a:rPr>
              <a:t>number of computations</a:t>
            </a:r>
            <a:r>
              <a:rPr lang="en-US" dirty="0"/>
              <a:t> (steps) an algorithm takes to complete </a:t>
            </a:r>
          </a:p>
          <a:p>
            <a:endParaRPr lang="en-US" dirty="0"/>
          </a:p>
          <a:p>
            <a:r>
              <a:rPr lang="en-US" dirty="0"/>
              <a:t>Time complexity is a function of the input data size (problem size)</a:t>
            </a:r>
          </a:p>
          <a:p>
            <a:endParaRPr lang="en-US" dirty="0">
              <a:solidFill>
                <a:schemeClr val="bg1"/>
              </a:solidFill>
              <a:sym typeface="Arial"/>
            </a:endParaRPr>
          </a:p>
          <a:p>
            <a:r>
              <a:rPr lang="en-US" dirty="0"/>
              <a:t>Time complexity is e</a:t>
            </a:r>
            <a:r>
              <a:rPr lang="nb-NO" dirty="0" err="1"/>
              <a:t>xpressed</a:t>
            </a:r>
            <a:r>
              <a:rPr lang="nb-NO" dirty="0"/>
              <a:t> by </a:t>
            </a:r>
            <a:r>
              <a:rPr lang="nb-NO" dirty="0">
                <a:solidFill>
                  <a:srgbClr val="FF0000"/>
                </a:solidFill>
              </a:rPr>
              <a:t>Big‑O </a:t>
            </a:r>
            <a:r>
              <a:rPr lang="nb-NO" dirty="0" err="1">
                <a:solidFill>
                  <a:srgbClr val="FF0000"/>
                </a:solidFill>
              </a:rPr>
              <a:t>notation</a:t>
            </a:r>
            <a:endParaRPr lang="en-GB" dirty="0">
              <a:solidFill>
                <a:srgbClr val="FF0000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011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95BE-319F-44FB-16EA-77403C8B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9DDB-CB02-6258-FE6F-A244333E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Time Complexity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1F19-B6D6-AB17-24BD-979943DD9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nb-NO" dirty="0"/>
              <a:t>Helps to </a:t>
            </a:r>
            <a:r>
              <a:rPr lang="nb-NO" dirty="0" err="1"/>
              <a:t>predict</a:t>
            </a:r>
            <a:r>
              <a:rPr lang="nb-NO" dirty="0"/>
              <a:t> </a:t>
            </a:r>
            <a:r>
              <a:rPr lang="nb-NO" dirty="0" err="1"/>
              <a:t>performance</a:t>
            </a:r>
            <a:r>
              <a:rPr lang="nb-NO" dirty="0"/>
              <a:t> </a:t>
            </a:r>
          </a:p>
          <a:p>
            <a:r>
              <a:rPr lang="nb-NO" dirty="0"/>
              <a:t>Shows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parallelism</a:t>
            </a:r>
            <a:r>
              <a:rPr lang="nb-NO" dirty="0"/>
              <a:t> </a:t>
            </a:r>
            <a:r>
              <a:rPr lang="nb-NO" dirty="0" err="1"/>
              <a:t>might</a:t>
            </a:r>
            <a:r>
              <a:rPr lang="nb-NO" dirty="0"/>
              <a:t> </a:t>
            </a:r>
            <a:r>
              <a:rPr lang="nb-NO" dirty="0" err="1"/>
              <a:t>help</a:t>
            </a:r>
            <a:r>
              <a:rPr lang="nb-NO" dirty="0"/>
              <a:t> — or </a:t>
            </a:r>
            <a:r>
              <a:rPr lang="nb-NO" dirty="0" err="1"/>
              <a:t>where</a:t>
            </a:r>
            <a:r>
              <a:rPr lang="nb-NO" dirty="0"/>
              <a:t> it </a:t>
            </a:r>
            <a:r>
              <a:rPr lang="nb-NO" dirty="0" err="1"/>
              <a:t>won’t</a:t>
            </a:r>
            <a:r>
              <a:rPr lang="nb-NO" dirty="0"/>
              <a:t>.</a:t>
            </a:r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72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714F-F76B-10F0-8DAA-FE8E807A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ED64-FACF-0B51-1057-C63CC477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sz="2500" dirty="0"/>
              <a:t>Big‑O </a:t>
            </a:r>
            <a:r>
              <a:rPr lang="nb-NO" sz="2500" dirty="0" err="1"/>
              <a:t>notation</a:t>
            </a:r>
            <a:r>
              <a:rPr lang="nb-NO" sz="2500" dirty="0"/>
              <a:t> </a:t>
            </a:r>
            <a:r>
              <a:rPr lang="nb-NO" sz="2500" dirty="0" err="1"/>
              <a:t>examples</a:t>
            </a:r>
            <a:endParaRPr lang="nb-NO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6C713-87D9-439A-6888-9D25BD7024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Source Sans Pro" charset="0"/>
                        <a:cs typeface="Source Sans Pro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nb-NO" dirty="0" err="1"/>
                  <a:t>constant</a:t>
                </a:r>
                <a:r>
                  <a:rPr lang="nb-NO" dirty="0"/>
                  <a:t> time</a:t>
                </a:r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Source Sans Pro" charset="0"/>
                        <a:cs typeface="Source Sans Pro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nb-NO" dirty="0"/>
                  <a:t>linear time</a:t>
                </a:r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Source Sans Pro" charset="0"/>
                        <a:cs typeface="Source Sans Pro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nb-NO" dirty="0" err="1"/>
                  <a:t>quadratic</a:t>
                </a:r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Source Sans Pro" charset="0"/>
                        <a:cs typeface="Source Sans Pro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b-NO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nb-NO" dirty="0" err="1"/>
                  <a:t>logarithmic</a:t>
                </a:r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Source Sans Pro" charset="0"/>
                        <a:cs typeface="Source Sans Pro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Source Sans Pro" charset="0"/>
                            <a:cs typeface="Source Sans Pro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  <a:ea typeface="Source Sans Pro" charset="0"/>
                                <a:cs typeface="Source Sans Pro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nb-NO" dirty="0" err="1"/>
                  <a:t>exponential</a:t>
                </a:r>
                <a:endParaRPr lang="nb-NO" dirty="0"/>
              </a:p>
              <a:p>
                <a:pPr lvl="1"/>
                <a:endParaRPr lang="en-GB" dirty="0">
                  <a:solidFill>
                    <a:srgbClr val="FF0000"/>
                  </a:solidFill>
                  <a:sym typeface="Arial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6C713-87D9-439A-6888-9D25BD702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  <a:blipFill>
                <a:blip r:embed="rId3"/>
                <a:stretch>
                  <a:fillRect t="-142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9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26ED-AE6B-EDBC-4032-E9D88683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QPurtBYZDBGPZBUSGBGaxxdu7IxFGeT5CA1p1-2mWWyZNCT_xvmmKuH2q6eudqyKxQs8MrM8i-w3Ypph3TPNreK5H8CqkgWMLhSZsIjAQ">
            <a:hlinkClick r:id="" action="ppaction://media"/>
            <a:extLst>
              <a:ext uri="{FF2B5EF4-FFF2-40B4-BE49-F238E27FC236}">
                <a16:creationId xmlns:a16="http://schemas.microsoft.com/office/drawing/2014/main" id="{33193EC2-CF91-75E7-CC59-F20B0F8D4F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83250" y="281267"/>
            <a:ext cx="2577500" cy="458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8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Time complexity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117EE-FE21-6BA0-1BE9-0609D3E5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751" y="1230724"/>
            <a:ext cx="4234455" cy="36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3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478-50F0-4981-8F79-71454C2C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1AF396-9F9C-47B0-9C1E-4B14966B1673}"/>
              </a:ext>
            </a:extLst>
          </p:cNvPr>
          <p:cNvSpPr txBox="1"/>
          <p:nvPr/>
        </p:nvSpPr>
        <p:spPr>
          <a:xfrm>
            <a:off x="519344" y="1269508"/>
            <a:ext cx="8015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067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4625-4482-A9DE-0718-8742D011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5D2D-084E-74EB-D929-FD0725E7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648286-9320-37D8-A113-97C4918CF5B3}"/>
              </a:ext>
            </a:extLst>
          </p:cNvPr>
          <p:cNvSpPr txBox="1"/>
          <p:nvPr/>
        </p:nvSpPr>
        <p:spPr>
          <a:xfrm>
            <a:off x="519344" y="1269508"/>
            <a:ext cx="8015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4886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0457-A1E3-45A9-F4FD-9759A07F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7435-73EC-C2F0-5319-A689A9AB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5ECB9A-E2A5-24BC-EE67-A2C91C8BD5BB}"/>
              </a:ext>
            </a:extLst>
          </p:cNvPr>
          <p:cNvSpPr txBox="1"/>
          <p:nvPr/>
        </p:nvSpPr>
        <p:spPr>
          <a:xfrm>
            <a:off x="519344" y="1269508"/>
            <a:ext cx="8015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</a:t>
            </a:r>
          </a:p>
        </p:txBody>
      </p:sp>
      <p:cxnSp>
        <p:nvCxnSpPr>
          <p:cNvPr id="4" name="Straight Connector 31">
            <a:extLst>
              <a:ext uri="{FF2B5EF4-FFF2-40B4-BE49-F238E27FC236}">
                <a16:creationId xmlns:a16="http://schemas.microsoft.com/office/drawing/2014/main" id="{F46BF9E5-F6F8-D5EF-5A51-6C9048E7AAAD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86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0512-AF05-BB21-D381-00AFC4A1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5A2A-5FEC-7BD2-7CD4-C75EC851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CA057C-04B6-336A-37DD-D857773DFC3A}"/>
              </a:ext>
            </a:extLst>
          </p:cNvPr>
          <p:cNvSpPr txBox="1"/>
          <p:nvPr/>
        </p:nvSpPr>
        <p:spPr>
          <a:xfrm>
            <a:off x="519344" y="1269508"/>
            <a:ext cx="8015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0859E8-66C6-D15D-01F6-4562EAB0342F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4CD19438-CCC6-A003-863B-87BC12A6FBF1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38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876AA-060A-365E-1B05-42A778A2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E08FA-E035-B830-E796-2C2DFD9B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5E9872-448E-FBE5-1A98-8B175B5DE588}"/>
              </a:ext>
            </a:extLst>
          </p:cNvPr>
          <p:cNvSpPr txBox="1"/>
          <p:nvPr/>
        </p:nvSpPr>
        <p:spPr>
          <a:xfrm>
            <a:off x="519344" y="1269508"/>
            <a:ext cx="80150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- Add the third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3 + 3 = 6; </a:t>
            </a:r>
            <a:r>
              <a:rPr lang="en-US" dirty="0">
                <a:solidFill>
                  <a:srgbClr val="FF0000"/>
                </a:solidFill>
              </a:rPr>
              <a:t>number of computations : 4 </a:t>
            </a:r>
            <a:endParaRPr lang="en-US" dirty="0"/>
          </a:p>
          <a:p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50E799-0433-CAE8-3E35-85A9D30F5CA7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C4E286-369E-82CB-9798-5EE9D35A8885}"/>
              </a:ext>
            </a:extLst>
          </p:cNvPr>
          <p:cNvCxnSpPr>
            <a:cxnSpLocks/>
          </p:cNvCxnSpPr>
          <p:nvPr/>
        </p:nvCxnSpPr>
        <p:spPr>
          <a:xfrm>
            <a:off x="1802167" y="3494052"/>
            <a:ext cx="465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4E4E9003-173D-CD85-0AA0-EA89B8F2EA30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63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6400-70B4-804B-366B-79B21137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0899-611B-48F6-022E-B82F970A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8F8B3-2220-0508-AE85-2D10CB3085A2}"/>
              </a:ext>
            </a:extLst>
          </p:cNvPr>
          <p:cNvSpPr txBox="1"/>
          <p:nvPr/>
        </p:nvSpPr>
        <p:spPr>
          <a:xfrm>
            <a:off x="519344" y="1269508"/>
            <a:ext cx="80150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- Add the third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3 + 3 = 6; </a:t>
            </a:r>
            <a:r>
              <a:rPr lang="en-US" dirty="0">
                <a:solidFill>
                  <a:srgbClr val="FF0000"/>
                </a:solidFill>
              </a:rPr>
              <a:t>number of computations : 4 </a:t>
            </a:r>
            <a:endParaRPr lang="en-US" dirty="0"/>
          </a:p>
          <a:p>
            <a:r>
              <a:rPr lang="en-US" dirty="0"/>
              <a:t>   - Add the fourth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6 + 4 = 10; </a:t>
            </a:r>
            <a:r>
              <a:rPr lang="en-US" dirty="0">
                <a:solidFill>
                  <a:srgbClr val="FF0000"/>
                </a:solidFill>
              </a:rPr>
              <a:t>number of computations : 5 </a:t>
            </a:r>
            <a:endParaRPr lang="en-US" dirty="0"/>
          </a:p>
          <a:p>
            <a:r>
              <a:rPr lang="en-US" dirty="0"/>
              <a:t>  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BB2637-34C6-D9CF-D0F8-382D6B8C5981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922302B-415F-B966-54A5-C1C904213B2D}"/>
              </a:ext>
            </a:extLst>
          </p:cNvPr>
          <p:cNvCxnSpPr>
            <a:cxnSpLocks/>
          </p:cNvCxnSpPr>
          <p:nvPr/>
        </p:nvCxnSpPr>
        <p:spPr>
          <a:xfrm>
            <a:off x="1802167" y="3494052"/>
            <a:ext cx="465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21842E-6517-6CC1-D70F-4D64499391C3}"/>
              </a:ext>
            </a:extLst>
          </p:cNvPr>
          <p:cNvCxnSpPr>
            <a:cxnSpLocks/>
          </p:cNvCxnSpPr>
          <p:nvPr/>
        </p:nvCxnSpPr>
        <p:spPr>
          <a:xfrm>
            <a:off x="1802167" y="3769521"/>
            <a:ext cx="564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3177A2CE-5F0D-F4C5-A389-0F4F5C52DD04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0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0616-6846-C771-A7D2-610A3001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22D6-DBE8-0FF6-CFEF-108A1C5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1DA85-33DA-E7ED-5307-E896915A0924}"/>
              </a:ext>
            </a:extLst>
          </p:cNvPr>
          <p:cNvSpPr txBox="1"/>
          <p:nvPr/>
        </p:nvSpPr>
        <p:spPr>
          <a:xfrm>
            <a:off x="519344" y="1269508"/>
            <a:ext cx="80150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- Add the third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3 + 3 = 6; </a:t>
            </a:r>
            <a:r>
              <a:rPr lang="en-US" dirty="0">
                <a:solidFill>
                  <a:srgbClr val="FF0000"/>
                </a:solidFill>
              </a:rPr>
              <a:t>number of computations : 4 </a:t>
            </a:r>
            <a:endParaRPr lang="en-US" dirty="0"/>
          </a:p>
          <a:p>
            <a:r>
              <a:rPr lang="en-US" dirty="0"/>
              <a:t>   - Add the fourth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6 + 4 = 10; </a:t>
            </a:r>
            <a:r>
              <a:rPr lang="en-US" dirty="0">
                <a:solidFill>
                  <a:srgbClr val="FF0000"/>
                </a:solidFill>
              </a:rPr>
              <a:t>number of computations : 5 </a:t>
            </a:r>
            <a:endParaRPr lang="en-US" dirty="0"/>
          </a:p>
          <a:p>
            <a:r>
              <a:rPr lang="en-US" dirty="0"/>
              <a:t>   - Add the fifth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10 + 5 = 15; </a:t>
            </a:r>
            <a:r>
              <a:rPr lang="en-US" dirty="0">
                <a:solidFill>
                  <a:srgbClr val="FF0000"/>
                </a:solidFill>
              </a:rPr>
              <a:t>number of computations : 6 </a:t>
            </a:r>
            <a:endParaRPr lang="en-US" dirty="0"/>
          </a:p>
          <a:p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18B10A-9097-5FCC-54F1-4ECDE317197B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123F6E-D53B-B82F-81AC-E764319FE1FA}"/>
              </a:ext>
            </a:extLst>
          </p:cNvPr>
          <p:cNvCxnSpPr>
            <a:cxnSpLocks/>
          </p:cNvCxnSpPr>
          <p:nvPr/>
        </p:nvCxnSpPr>
        <p:spPr>
          <a:xfrm>
            <a:off x="1802167" y="3494052"/>
            <a:ext cx="465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A24D790-90D5-39B2-E582-BFED84D42779}"/>
              </a:ext>
            </a:extLst>
          </p:cNvPr>
          <p:cNvCxnSpPr>
            <a:cxnSpLocks/>
          </p:cNvCxnSpPr>
          <p:nvPr/>
        </p:nvCxnSpPr>
        <p:spPr>
          <a:xfrm>
            <a:off x="1802167" y="3769521"/>
            <a:ext cx="564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FC1F6C-2F6B-4354-D493-7096D7B977D2}"/>
              </a:ext>
            </a:extLst>
          </p:cNvPr>
          <p:cNvCxnSpPr>
            <a:cxnSpLocks/>
          </p:cNvCxnSpPr>
          <p:nvPr/>
        </p:nvCxnSpPr>
        <p:spPr>
          <a:xfrm>
            <a:off x="1751860" y="4053607"/>
            <a:ext cx="6148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F4F883BD-AA45-C3E9-9CAD-59FA944E1A3F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6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37E2-9B25-2156-A81F-DDC2875E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D0A7-7B04-8FB0-AB10-D2AB0100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239FF9-AEFF-4050-0D6F-2B3E051CFF8E}"/>
              </a:ext>
            </a:extLst>
          </p:cNvPr>
          <p:cNvSpPr txBox="1"/>
          <p:nvPr/>
        </p:nvSpPr>
        <p:spPr>
          <a:xfrm>
            <a:off x="519344" y="1269508"/>
            <a:ext cx="801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- Add the third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3 + 3 = 6; </a:t>
            </a:r>
            <a:r>
              <a:rPr lang="en-US" dirty="0">
                <a:solidFill>
                  <a:srgbClr val="FF0000"/>
                </a:solidFill>
              </a:rPr>
              <a:t>number of computations : 4 </a:t>
            </a:r>
            <a:endParaRPr lang="en-US" dirty="0"/>
          </a:p>
          <a:p>
            <a:r>
              <a:rPr lang="en-US" dirty="0"/>
              <a:t>   - Add the fourth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6 + 4 = 10; </a:t>
            </a:r>
            <a:r>
              <a:rPr lang="en-US" dirty="0">
                <a:solidFill>
                  <a:srgbClr val="FF0000"/>
                </a:solidFill>
              </a:rPr>
              <a:t>number of computations : 5 </a:t>
            </a:r>
            <a:endParaRPr lang="en-US" dirty="0"/>
          </a:p>
          <a:p>
            <a:r>
              <a:rPr lang="en-US" dirty="0"/>
              <a:t>   - Add the fifth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10 + 5 = 15; </a:t>
            </a:r>
            <a:r>
              <a:rPr lang="en-US" dirty="0">
                <a:solidFill>
                  <a:srgbClr val="FF0000"/>
                </a:solidFill>
              </a:rPr>
              <a:t>number of computations : 6 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Total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15; </a:t>
            </a:r>
            <a:r>
              <a:rPr lang="en-US" dirty="0">
                <a:solidFill>
                  <a:srgbClr val="FF0000"/>
                </a:solidFill>
              </a:rPr>
              <a:t>number of computations : 6 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E95C189-CEBA-9E22-67B5-590588E822CC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F004D0-3708-04F6-17B6-2A151BBC4401}"/>
              </a:ext>
            </a:extLst>
          </p:cNvPr>
          <p:cNvCxnSpPr>
            <a:cxnSpLocks/>
          </p:cNvCxnSpPr>
          <p:nvPr/>
        </p:nvCxnSpPr>
        <p:spPr>
          <a:xfrm>
            <a:off x="1802167" y="3494052"/>
            <a:ext cx="465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A4675F-61C6-F7F9-67F0-6A880B2D1904}"/>
              </a:ext>
            </a:extLst>
          </p:cNvPr>
          <p:cNvCxnSpPr>
            <a:cxnSpLocks/>
          </p:cNvCxnSpPr>
          <p:nvPr/>
        </p:nvCxnSpPr>
        <p:spPr>
          <a:xfrm>
            <a:off x="1802167" y="3769521"/>
            <a:ext cx="564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044591-C5EF-C826-73AE-2BD2C6D48586}"/>
              </a:ext>
            </a:extLst>
          </p:cNvPr>
          <p:cNvCxnSpPr>
            <a:cxnSpLocks/>
          </p:cNvCxnSpPr>
          <p:nvPr/>
        </p:nvCxnSpPr>
        <p:spPr>
          <a:xfrm>
            <a:off x="1751860" y="4053607"/>
            <a:ext cx="6148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E74C9EEC-B3B6-67F7-29D4-9D19574304BE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04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B13B-4BC7-2382-A2BE-AE2A8725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CA67-523F-8C5E-9850-50DC6FA4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1: Sum of an array - </a:t>
            </a:r>
            <a:r>
              <a:rPr lang="en-GB" dirty="0">
                <a:solidFill>
                  <a:srgbClr val="0000FF"/>
                </a:solidFill>
                <a:sym typeface="Symbol" panose="05050102010706020507" pitchFamily="18" charset="2"/>
              </a:rPr>
              <a:t>(N)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96E1D6-9CC4-B6BE-5225-925F2C4561BA}"/>
              </a:ext>
            </a:extLst>
          </p:cNvPr>
          <p:cNvSpPr txBox="1"/>
          <p:nvPr/>
        </p:nvSpPr>
        <p:spPr>
          <a:xfrm>
            <a:off x="519343" y="1269508"/>
            <a:ext cx="89653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Array: </a:t>
            </a:r>
          </a:p>
          <a:p>
            <a:r>
              <a:rPr lang="en-US" dirty="0"/>
              <a:t>   [1, 2, 3, 4, 5]</a:t>
            </a:r>
          </a:p>
          <a:p>
            <a:endParaRPr lang="en-US" dirty="0"/>
          </a:p>
          <a:p>
            <a:r>
              <a:rPr lang="en-US" dirty="0"/>
              <a:t>2. Step-by-Step Summation:</a:t>
            </a:r>
          </a:p>
          <a:p>
            <a:r>
              <a:rPr lang="en-US" dirty="0"/>
              <a:t>   - Start with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0; </a:t>
            </a:r>
            <a:r>
              <a:rPr lang="en-US" dirty="0">
                <a:solidFill>
                  <a:srgbClr val="FF0000"/>
                </a:solidFill>
              </a:rPr>
              <a:t>number of computations : 1 </a:t>
            </a:r>
          </a:p>
          <a:p>
            <a:r>
              <a:rPr lang="en-US" dirty="0"/>
              <a:t>   - Add the first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0 + 1 = 1; </a:t>
            </a:r>
            <a:r>
              <a:rPr lang="en-US" dirty="0">
                <a:solidFill>
                  <a:srgbClr val="FF0000"/>
                </a:solidFill>
              </a:rPr>
              <a:t>number of computations : 2 </a:t>
            </a:r>
            <a:endParaRPr lang="en-US" dirty="0"/>
          </a:p>
          <a:p>
            <a:r>
              <a:rPr lang="en-US" dirty="0"/>
              <a:t>   - Add the second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 + 2 = 3; </a:t>
            </a:r>
            <a:r>
              <a:rPr lang="en-US" dirty="0">
                <a:solidFill>
                  <a:srgbClr val="FF0000"/>
                </a:solidFill>
              </a:rPr>
              <a:t>number of computations : 3 </a:t>
            </a:r>
            <a:endParaRPr lang="en-US" dirty="0"/>
          </a:p>
          <a:p>
            <a:r>
              <a:rPr lang="en-US" dirty="0"/>
              <a:t>   - Add the third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3 + 3 = 6; </a:t>
            </a:r>
            <a:r>
              <a:rPr lang="en-US" dirty="0">
                <a:solidFill>
                  <a:srgbClr val="FF0000"/>
                </a:solidFill>
              </a:rPr>
              <a:t>number of computations : 4 </a:t>
            </a:r>
            <a:endParaRPr lang="en-US" dirty="0"/>
          </a:p>
          <a:p>
            <a:r>
              <a:rPr lang="en-US" dirty="0"/>
              <a:t>   - Add the fourth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6 + 4 = 10; </a:t>
            </a:r>
            <a:r>
              <a:rPr lang="en-US" dirty="0">
                <a:solidFill>
                  <a:srgbClr val="FF0000"/>
                </a:solidFill>
              </a:rPr>
              <a:t>number of computations : 5 </a:t>
            </a:r>
            <a:endParaRPr lang="en-US" dirty="0"/>
          </a:p>
          <a:p>
            <a:r>
              <a:rPr lang="en-US" dirty="0"/>
              <a:t>   - Add the fifth element: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10 + 5 = 15; </a:t>
            </a:r>
            <a:r>
              <a:rPr lang="en-US" dirty="0">
                <a:solidFill>
                  <a:srgbClr val="FF0000"/>
                </a:solidFill>
              </a:rPr>
              <a:t>number of computations : 6 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Total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/>
              <a:t> = 15; </a:t>
            </a:r>
            <a:r>
              <a:rPr lang="en-US" dirty="0">
                <a:solidFill>
                  <a:srgbClr val="FF0000"/>
                </a:solidFill>
              </a:rPr>
              <a:t>number of computations : 6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4. Array of size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, the number of computations is </a:t>
            </a:r>
            <a:r>
              <a:rPr lang="en-US" dirty="0">
                <a:solidFill>
                  <a:srgbClr val="0000FF"/>
                </a:solidFill>
              </a:rPr>
              <a:t>N </a:t>
            </a:r>
            <a:r>
              <a:rPr lang="en-US" dirty="0">
                <a:solidFill>
                  <a:schemeClr val="bg1"/>
                </a:solidFill>
              </a:rPr>
              <a:t>=&gt; Time complexity is </a:t>
            </a:r>
            <a:r>
              <a:rPr lang="en-GB" dirty="0">
                <a:solidFill>
                  <a:srgbClr val="0000FF"/>
                </a:solidFill>
                <a:sym typeface="Symbol" panose="05050102010706020507" pitchFamily="18" charset="2"/>
              </a:rPr>
              <a:t>(N)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5ADC84-EC30-D96A-C629-773517495ECA}"/>
              </a:ext>
            </a:extLst>
          </p:cNvPr>
          <p:cNvCxnSpPr/>
          <p:nvPr/>
        </p:nvCxnSpPr>
        <p:spPr>
          <a:xfrm>
            <a:off x="1802167" y="2977668"/>
            <a:ext cx="363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F5C2B2-6942-7AB8-CDB6-B40D26E56D36}"/>
              </a:ext>
            </a:extLst>
          </p:cNvPr>
          <p:cNvCxnSpPr>
            <a:cxnSpLocks/>
          </p:cNvCxnSpPr>
          <p:nvPr/>
        </p:nvCxnSpPr>
        <p:spPr>
          <a:xfrm>
            <a:off x="1802167" y="3494052"/>
            <a:ext cx="465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B4C719-C9FC-39AB-DA7F-338B899837AB}"/>
              </a:ext>
            </a:extLst>
          </p:cNvPr>
          <p:cNvCxnSpPr>
            <a:cxnSpLocks/>
          </p:cNvCxnSpPr>
          <p:nvPr/>
        </p:nvCxnSpPr>
        <p:spPr>
          <a:xfrm>
            <a:off x="1802167" y="3769521"/>
            <a:ext cx="564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666134-1329-11A2-E9F8-F653CE25CA2D}"/>
              </a:ext>
            </a:extLst>
          </p:cNvPr>
          <p:cNvCxnSpPr>
            <a:cxnSpLocks/>
          </p:cNvCxnSpPr>
          <p:nvPr/>
        </p:nvCxnSpPr>
        <p:spPr>
          <a:xfrm>
            <a:off x="1751860" y="4053607"/>
            <a:ext cx="6148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1">
            <a:extLst>
              <a:ext uri="{FF2B5EF4-FFF2-40B4-BE49-F238E27FC236}">
                <a16:creationId xmlns:a16="http://schemas.microsoft.com/office/drawing/2014/main" id="{C3479CA7-A792-3033-7298-32BA4601C7F0}"/>
              </a:ext>
            </a:extLst>
          </p:cNvPr>
          <p:cNvCxnSpPr>
            <a:cxnSpLocks/>
          </p:cNvCxnSpPr>
          <p:nvPr/>
        </p:nvCxnSpPr>
        <p:spPr>
          <a:xfrm>
            <a:off x="1802167" y="3228681"/>
            <a:ext cx="6720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345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11C6-4869-CC21-F966-0462F05E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149A-C901-D74B-EAF9-3C7B9C97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2 : Vector – Vector Multiplication (Dot product)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F3FE8-A1D7-DBBA-B74C-0A06ABAC6F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 …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𝑎𝑁</m:t>
                        </m:r>
                      </m:e>
                    </m:d>
                  </m:oMath>
                </a14:m>
                <a:r>
                  <a:rPr lang="en-US" dirty="0"/>
                  <a:t>;               </a:t>
                </a:r>
                <a:r>
                  <a:rPr lang="en-US" dirty="0">
                    <a:solidFill>
                      <a:srgbClr val="FF0000"/>
                    </a:solidFill>
                  </a:rPr>
                  <a:t>B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𝑏𝑁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.</a:t>
                </a:r>
                <a:r>
                  <a:rPr lang="en-US" dirty="0">
                    <a:solidFill>
                      <a:srgbClr val="FF0000"/>
                    </a:solidFill>
                  </a:rPr>
                  <a:t> B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…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𝑎𝑁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𝑏𝑁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solidFill>
                      <a:schemeClr val="accent1"/>
                    </a:solidFill>
                  </a:rPr>
                  <a:t>a1</a:t>
                </a:r>
                <a:r>
                  <a:rPr lang="en-US" dirty="0">
                    <a:solidFill>
                      <a:srgbClr val="FF0000"/>
                    </a:solidFill>
                  </a:rPr>
                  <a:t>b1</a:t>
                </a:r>
                <a:r>
                  <a:rPr lang="en-US" dirty="0"/>
                  <a:t> + </a:t>
                </a:r>
                <a:r>
                  <a:rPr lang="en-US" dirty="0">
                    <a:solidFill>
                      <a:schemeClr val="accent1"/>
                    </a:solidFill>
                  </a:rPr>
                  <a:t>a2</a:t>
                </a:r>
                <a:r>
                  <a:rPr lang="en-US" dirty="0">
                    <a:solidFill>
                      <a:srgbClr val="FF0000"/>
                    </a:solidFill>
                  </a:rPr>
                  <a:t>b2</a:t>
                </a:r>
                <a:r>
                  <a:rPr lang="en-US" dirty="0"/>
                  <a:t>+…+ </a:t>
                </a:r>
                <a:r>
                  <a:rPr lang="en-US" dirty="0" err="1">
                    <a:solidFill>
                      <a:schemeClr val="accent1"/>
                    </a:solidFill>
                  </a:rPr>
                  <a:t>aN</a:t>
                </a:r>
                <a:r>
                  <a:rPr lang="en-US" dirty="0" err="1">
                    <a:solidFill>
                      <a:srgbClr val="FF0000"/>
                    </a:solidFill>
                  </a:rPr>
                  <a:t>bN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endParaRPr lang="en-GB" dirty="0">
                  <a:solidFill>
                    <a:srgbClr val="FF0000"/>
                  </a:solidFill>
                  <a:sym typeface="Arial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F3FE8-A1D7-DBBA-B74C-0A06ABAC6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042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43BE-808B-3815-7D70-318496DE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8C25-4EED-A41A-70C3-7D4FCF59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2 : Vector – Vector Multiplication (Dot product)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98AB1-9373-42EE-8F3C-85AAC4A8B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 …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𝑎𝑁</m:t>
                        </m:r>
                      </m:e>
                    </m:d>
                  </m:oMath>
                </a14:m>
                <a:r>
                  <a:rPr lang="en-US" dirty="0"/>
                  <a:t>;               </a:t>
                </a:r>
                <a:r>
                  <a:rPr lang="en-US" dirty="0">
                    <a:solidFill>
                      <a:srgbClr val="FF0000"/>
                    </a:solidFill>
                  </a:rPr>
                  <a:t>B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𝑏𝑁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.</a:t>
                </a:r>
                <a:r>
                  <a:rPr lang="en-US" dirty="0">
                    <a:solidFill>
                      <a:srgbClr val="FF0000"/>
                    </a:solidFill>
                  </a:rPr>
                  <a:t> B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…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𝑎𝑁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𝑏𝑁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solidFill>
                      <a:schemeClr val="accent1"/>
                    </a:solidFill>
                  </a:rPr>
                  <a:t>a1</a:t>
                </a:r>
                <a:r>
                  <a:rPr lang="en-US" dirty="0">
                    <a:solidFill>
                      <a:srgbClr val="FF0000"/>
                    </a:solidFill>
                  </a:rPr>
                  <a:t>b1</a:t>
                </a:r>
                <a:r>
                  <a:rPr lang="en-US" dirty="0"/>
                  <a:t> + </a:t>
                </a:r>
                <a:r>
                  <a:rPr lang="en-US" dirty="0">
                    <a:solidFill>
                      <a:schemeClr val="accent1"/>
                    </a:solidFill>
                  </a:rPr>
                  <a:t>a2</a:t>
                </a:r>
                <a:r>
                  <a:rPr lang="en-US" dirty="0">
                    <a:solidFill>
                      <a:srgbClr val="FF0000"/>
                    </a:solidFill>
                  </a:rPr>
                  <a:t>b2</a:t>
                </a:r>
                <a:r>
                  <a:rPr lang="en-US" dirty="0"/>
                  <a:t>+…+ </a:t>
                </a:r>
                <a:r>
                  <a:rPr lang="en-US" dirty="0" err="1">
                    <a:solidFill>
                      <a:schemeClr val="accent1"/>
                    </a:solidFill>
                  </a:rPr>
                  <a:t>aN</a:t>
                </a:r>
                <a:r>
                  <a:rPr lang="en-US" dirty="0" err="1">
                    <a:solidFill>
                      <a:srgbClr val="FF0000"/>
                    </a:solidFill>
                  </a:rPr>
                  <a:t>bN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endParaRPr lang="en-GB" dirty="0">
                  <a:solidFill>
                    <a:srgbClr val="FF0000"/>
                  </a:solidFill>
                  <a:sym typeface="Arial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98AB1-9373-42EE-8F3C-85AAC4A8B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85841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kstSylinder 4">
            <a:extLst>
              <a:ext uri="{FF2B5EF4-FFF2-40B4-BE49-F238E27FC236}">
                <a16:creationId xmlns:a16="http://schemas.microsoft.com/office/drawing/2014/main" id="{111B6338-6711-6815-004C-7DB33B31C14D}"/>
              </a:ext>
            </a:extLst>
          </p:cNvPr>
          <p:cNvSpPr txBox="1"/>
          <p:nvPr/>
        </p:nvSpPr>
        <p:spPr>
          <a:xfrm>
            <a:off x="4312023" y="42084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The number of computations is</a:t>
            </a:r>
            <a:r>
              <a:rPr lang="en-US" sz="1800" dirty="0">
                <a:solidFill>
                  <a:srgbClr val="0000FF"/>
                </a:solidFill>
              </a:rPr>
              <a:t>: 2N -1</a:t>
            </a:r>
            <a:endParaRPr lang="nb-NO" dirty="0">
              <a:solidFill>
                <a:srgbClr val="0000FF"/>
              </a:solidFill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FE98F88-7ADC-3F6B-784C-39F917D5B38A}"/>
              </a:ext>
            </a:extLst>
          </p:cNvPr>
          <p:cNvSpPr txBox="1"/>
          <p:nvPr/>
        </p:nvSpPr>
        <p:spPr>
          <a:xfrm>
            <a:off x="4312023" y="46334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Time complexity: </a:t>
            </a:r>
            <a:r>
              <a:rPr lang="en-GB" dirty="0">
                <a:solidFill>
                  <a:srgbClr val="0000FF"/>
                </a:solidFill>
                <a:sym typeface="Symbol" panose="05050102010706020507" pitchFamily="18" charset="2"/>
              </a:rPr>
              <a:t>(N)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endParaRPr lang="nb-NO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42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633AAB-D6DD-4A4C-8321-51C01D22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Example 3: Matrix – Matrix Multiplication</a:t>
            </a:r>
            <a:endParaRPr lang="en-US" sz="28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47AB3-55F1-41E7-8E3B-64A0A5DF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6C08-79FD-4AA2-B109-3970C5F7EB2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8DCA1-C25F-41E9-9D64-FEAC4F75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6B3C-1CB4-4CDF-8648-89C522B6F0DE}" type="slidenum">
              <a:rPr lang="en-US" smtClean="0"/>
              <a:t>23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DA83EA-C5B1-6589-9902-609AD220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1861358"/>
            <a:ext cx="6381750" cy="1657350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F682E99-5DCF-F621-805A-9F7EB432BFB1}"/>
              </a:ext>
            </a:extLst>
          </p:cNvPr>
          <p:cNvSpPr txBox="1">
            <a:spLocks/>
          </p:cNvSpPr>
          <p:nvPr/>
        </p:nvSpPr>
        <p:spPr>
          <a:xfrm>
            <a:off x="1319693" y="3502922"/>
            <a:ext cx="2137181" cy="49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Matrix A (M, 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B4E187-8EB8-8066-0CF1-87AFF3647C06}"/>
              </a:ext>
            </a:extLst>
          </p:cNvPr>
          <p:cNvSpPr txBox="1">
            <a:spLocks/>
          </p:cNvSpPr>
          <p:nvPr/>
        </p:nvSpPr>
        <p:spPr>
          <a:xfrm>
            <a:off x="3698923" y="3538879"/>
            <a:ext cx="1746153" cy="49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Matrix B (N, P)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0CD5187-8179-5115-BBBF-18C887F00A84}"/>
              </a:ext>
            </a:extLst>
          </p:cNvPr>
          <p:cNvSpPr txBox="1">
            <a:spLocks/>
          </p:cNvSpPr>
          <p:nvPr/>
        </p:nvSpPr>
        <p:spPr>
          <a:xfrm>
            <a:off x="6139887" y="3530002"/>
            <a:ext cx="1684420" cy="49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Matrix C(M,P)</a:t>
            </a:r>
          </a:p>
        </p:txBody>
      </p:sp>
    </p:spTree>
    <p:extLst>
      <p:ext uri="{BB962C8B-B14F-4D97-AF65-F5344CB8AC3E}">
        <p14:creationId xmlns:p14="http://schemas.microsoft.com/office/powerpoint/2010/main" val="348722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633AAB-D6DD-4A4C-8321-51C01D22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50"/>
              <a:t>Example</a:t>
            </a:r>
            <a:endParaRPr lang="en-US" sz="28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47AB3-55F1-41E7-8E3B-64A0A5DF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6C08-79FD-4AA2-B109-3970C5F7EB2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8DCA1-C25F-41E9-9D64-FEAC4F75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6B3C-1CB4-4CDF-8648-89C522B6F0DE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CD8EB-5761-47B6-9D66-E18E6314E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73" y="1358734"/>
            <a:ext cx="68199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4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D45A-9C70-AB2D-B888-30E3774E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FF9704-1B4B-A2A1-D390-DB5A5561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Matrix – Matrix Multiplication</a:t>
            </a:r>
            <a:endParaRPr lang="en-US" sz="28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FD455-A572-4F90-1669-7A14AFED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6C08-79FD-4AA2-B109-3970C5F7EB2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6D648-76A2-F5AD-F321-B8ABAF87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6B3C-1CB4-4CDF-8648-89C522B6F0DE}" type="slidenum">
              <a:rPr lang="en-US" smtClean="0"/>
              <a:t>25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326360-250A-1D3E-935C-5DB93EAF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ts val="1800"/>
            </a:pPr>
            <a:r>
              <a:rPr lang="en-GB" dirty="0">
                <a:solidFill>
                  <a:schemeClr val="bg1"/>
                </a:solidFill>
              </a:rPr>
              <a:t>Time complexity: </a:t>
            </a:r>
            <a:r>
              <a:rPr lang="en-GB" dirty="0">
                <a:solidFill>
                  <a:srgbClr val="0000FF"/>
                </a:solidFill>
                <a:sym typeface="Symbol" panose="05050102010706020507" pitchFamily="18" charset="2"/>
              </a:rPr>
              <a:t></a:t>
            </a:r>
            <a:r>
              <a:rPr lang="en-US" altLang="en-US" dirty="0">
                <a:solidFill>
                  <a:srgbClr val="3333FF"/>
                </a:solidFill>
              </a:rPr>
              <a:t>(N</a:t>
            </a:r>
            <a:r>
              <a:rPr lang="en-US" altLang="en-US" baseline="30000" dirty="0">
                <a:solidFill>
                  <a:srgbClr val="3333FF"/>
                </a:solidFill>
              </a:rPr>
              <a:t>3</a:t>
            </a:r>
            <a:r>
              <a:rPr lang="en-US" altLang="en-US" dirty="0">
                <a:solidFill>
                  <a:srgbClr val="3333FF"/>
                </a:solidFill>
              </a:rPr>
              <a:t>)</a:t>
            </a: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  <a:p>
            <a:pPr>
              <a:buSzPts val="1800"/>
            </a:pP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E7F0D-E3BD-065A-9B5C-BA6EFD923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57" y="2286463"/>
            <a:ext cx="3888728" cy="1291238"/>
          </a:xfrm>
          <a:prstGeom prst="rect">
            <a:avLst/>
          </a:prstGeom>
        </p:spPr>
      </p:pic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30F1F57-4460-3E43-24F4-7E8CAC2E7E65}"/>
              </a:ext>
            </a:extLst>
          </p:cNvPr>
          <p:cNvSpPr txBox="1">
            <a:spLocks/>
          </p:cNvSpPr>
          <p:nvPr/>
        </p:nvSpPr>
        <p:spPr>
          <a:xfrm>
            <a:off x="152397" y="3943349"/>
            <a:ext cx="8812309" cy="7133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Parallel version runs faster than serial version if the problem size is not too small.</a:t>
            </a:r>
          </a:p>
        </p:txBody>
      </p:sp>
    </p:spTree>
    <p:extLst>
      <p:ext uri="{BB962C8B-B14F-4D97-AF65-F5344CB8AC3E}">
        <p14:creationId xmlns:p14="http://schemas.microsoft.com/office/powerpoint/2010/main" val="1125887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7FAE-57D8-116C-5788-E15FA53C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259961-BA42-3FEE-3B0F-79167B9C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What if input matrices are spare matrixes ?</a:t>
            </a:r>
            <a:endParaRPr lang="en-US" sz="28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94431-288D-491C-5950-784AA9BA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6C08-79FD-4AA2-B109-3970C5F7EB2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CC419-A338-6EB9-B6F9-DA21907D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6B3C-1CB4-4CDF-8648-89C522B6F0DE}" type="slidenum">
              <a:rPr lang="en-US" smtClean="0"/>
              <a:t>26</a:t>
            </a:fld>
            <a:endParaRPr lang="en-US"/>
          </a:p>
        </p:txBody>
      </p:sp>
      <p:pic>
        <p:nvPicPr>
          <p:cNvPr id="4098" name="Picture 2" descr="suggested sparse matrix The sparse matrix scanned from left to right... |  Download Scientific Diagram">
            <a:extLst>
              <a:ext uri="{FF2B5EF4-FFF2-40B4-BE49-F238E27FC236}">
                <a16:creationId xmlns:a16="http://schemas.microsoft.com/office/drawing/2014/main" id="{B803CB5F-733C-0115-53D8-0A79CB659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0" y="1676310"/>
            <a:ext cx="2496753" cy="246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uggested sparse matrix The sparse matrix scanned from left to right... |  Download Scientific Diagram">
            <a:extLst>
              <a:ext uri="{FF2B5EF4-FFF2-40B4-BE49-F238E27FC236}">
                <a16:creationId xmlns:a16="http://schemas.microsoft.com/office/drawing/2014/main" id="{6F38F231-1E5B-7D9A-3772-C0AC5735E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138" y="1676310"/>
            <a:ext cx="2496753" cy="246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629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5EFF-8A69-3087-3512-A4CE8A3E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CBB04C-CEF8-9BC4-9F38-EF70B039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What if input matrices are spare matrixes ?</a:t>
            </a:r>
            <a:endParaRPr lang="en-US" sz="28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03A15-3434-1132-77FF-B9A0A1AB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6C08-79FD-4AA2-B109-3970C5F7EB2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74C4F-B5F3-B390-9006-22D94576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6B3C-1CB4-4CDF-8648-89C522B6F0DE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7906C-229A-1CC5-3345-41FDB401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89" y="1496350"/>
            <a:ext cx="55054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29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0DE7-06DD-D464-1677-27236A23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C806E6-B3B9-26A8-562A-2E0E78F0458D}"/>
              </a:ext>
            </a:extLst>
          </p:cNvPr>
          <p:cNvSpPr txBox="1">
            <a:spLocks/>
          </p:cNvSpPr>
          <p:nvPr/>
        </p:nvSpPr>
        <p:spPr>
          <a:xfrm>
            <a:off x="823849" y="2053000"/>
            <a:ext cx="7387822" cy="1148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2800" kern="1200" baseline="0">
                <a:solidFill>
                  <a:schemeClr val="tx1"/>
                </a:solidFill>
                <a:latin typeface="Source Sans Pro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dirty="0">
                <a:solidFill>
                  <a:schemeClr val="bg1"/>
                </a:solidFill>
              </a:rPr>
              <a:t>Input size</a:t>
            </a:r>
          </a:p>
        </p:txBody>
      </p:sp>
    </p:spTree>
    <p:extLst>
      <p:ext uri="{BB962C8B-B14F-4D97-AF65-F5344CB8AC3E}">
        <p14:creationId xmlns:p14="http://schemas.microsoft.com/office/powerpoint/2010/main" val="779292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6997-28F0-35EA-5892-44821227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4879-432F-6031-E2EA-AADCF566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Input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7214-EB50-9AB4-73C7-622688C4C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When time complexity is small, a parallel version run faster than its serial version when the input data size is large enough</a:t>
            </a:r>
          </a:p>
          <a:p>
            <a:r>
              <a:rPr lang="en-US" dirty="0">
                <a:solidFill>
                  <a:schemeClr val="bg1"/>
                </a:solidFill>
              </a:rPr>
              <a:t>Parallel programming only pays off when the amount of work is large enough to overcome the overhead of splitting and coordinating tasks.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2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DC70-8F7D-FACB-6384-2165F282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648A-7077-CF56-016D-E6A25CE3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Input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73154-4AD2-60BA-E4E2-22A338098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US" dirty="0"/>
              <a:t>Small inputs (not high complexity)→ serial is often faster</a:t>
            </a:r>
          </a:p>
          <a:p>
            <a:endParaRPr lang="en-US" dirty="0"/>
          </a:p>
          <a:p>
            <a:r>
              <a:rPr lang="en-US" dirty="0"/>
              <a:t>Large inputs → parallelism becomes beneficial</a:t>
            </a:r>
          </a:p>
          <a:p>
            <a:endParaRPr lang="en-US" dirty="0"/>
          </a:p>
          <a:p>
            <a:r>
              <a:rPr lang="en-US" dirty="0"/>
              <a:t>Overhead: </a:t>
            </a:r>
          </a:p>
          <a:p>
            <a:pPr lvl="1"/>
            <a:r>
              <a:rPr lang="en-US" dirty="0"/>
              <a:t>Threads/processes management </a:t>
            </a:r>
          </a:p>
          <a:p>
            <a:pPr lvl="1"/>
            <a:r>
              <a:rPr lang="en-US" dirty="0"/>
              <a:t>Communication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4580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E56A-6785-719C-19E8-BBF3823A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F9A004B-2ACA-83B6-DB42-D2B5C63B06CC}"/>
              </a:ext>
            </a:extLst>
          </p:cNvPr>
          <p:cNvSpPr txBox="1">
            <a:spLocks/>
          </p:cNvSpPr>
          <p:nvPr/>
        </p:nvSpPr>
        <p:spPr>
          <a:xfrm>
            <a:off x="823849" y="2053000"/>
            <a:ext cx="7387822" cy="1148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457200" rtl="0" eaLnBrk="1" latinLnBrk="0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2800" kern="1200" baseline="0">
                <a:solidFill>
                  <a:schemeClr val="tx1"/>
                </a:solidFill>
                <a:latin typeface="Source Sans Pro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dirty="0">
                <a:solidFill>
                  <a:schemeClr val="bg1"/>
                </a:solidFill>
              </a:rPr>
              <a:t>Whether or not the problem can be parallelized</a:t>
            </a:r>
          </a:p>
        </p:txBody>
      </p:sp>
    </p:spTree>
    <p:extLst>
      <p:ext uri="{BB962C8B-B14F-4D97-AF65-F5344CB8AC3E}">
        <p14:creationId xmlns:p14="http://schemas.microsoft.com/office/powerpoint/2010/main" val="983520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59C0-AAF9-06CD-9346-C2E5473E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3C33-AB12-B08C-2261-3BE2598F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of non-parallelized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5B1A-0D86-0941-F623-E60CA8769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Fibonacci series: 1,1,2,3,5,8,13,21….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F(0) =F(1)=1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F(n) = F(n-1) + F(n-2)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9915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C54D-66AA-5702-7B5F-4A469191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426F-23B5-84C8-28F8-3D85DE01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of non-parallelized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BD44-F448-E595-786E-A387303E3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Fibonacci series: 1,1,2,3,5,8,13,21….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F(0) =F(1)=1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F(n) = F(n-1) + F(n-2)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Possible implementation: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  <p:pic>
        <p:nvPicPr>
          <p:cNvPr id="5" name="Bilde 4" descr="Et bilde som inneholder Font, tekst, line, skjermbilde&#10;&#10;KI-generert innhold kan være feil.">
            <a:extLst>
              <a:ext uri="{FF2B5EF4-FFF2-40B4-BE49-F238E27FC236}">
                <a16:creationId xmlns:a16="http://schemas.microsoft.com/office/drawing/2014/main" id="{1E8ACD28-F518-E71C-997E-A380D40B8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30" y="3129356"/>
            <a:ext cx="3698933" cy="1140640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EF5CD2F6-BFA1-9B1E-CBF5-126EAC18D23D}"/>
              </a:ext>
            </a:extLst>
          </p:cNvPr>
          <p:cNvSpPr txBox="1">
            <a:spLocks/>
          </p:cNvSpPr>
          <p:nvPr/>
        </p:nvSpPr>
        <p:spPr>
          <a:xfrm>
            <a:off x="3675529" y="4387714"/>
            <a:ext cx="5567083" cy="164994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Simple, easy to implement, but high complexity</a:t>
            </a:r>
          </a:p>
        </p:txBody>
      </p:sp>
    </p:spTree>
    <p:extLst>
      <p:ext uri="{BB962C8B-B14F-4D97-AF65-F5344CB8AC3E}">
        <p14:creationId xmlns:p14="http://schemas.microsoft.com/office/powerpoint/2010/main" val="2355772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6CD1E-D812-0DA3-2312-BAAB3BF4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89C7-F234-3443-6CAD-3001C32F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49" y="2053000"/>
            <a:ext cx="6269969" cy="11487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21711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EFB3-B1C7-3E43-14F8-673E906C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4C7B-8CCA-EB47-CFF2-404983DC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to use a parallel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8900-265D-1B3F-6EC8-BEB289D03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High time-complexity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Large input size 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Problem can be divided into independent tasks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3139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90E2-4506-AA8A-2B06-66B8C880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BD1B-3034-5938-2AF9-248EE5F0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When </a:t>
            </a:r>
            <a:r>
              <a:rPr lang="en-GB" dirty="0">
                <a:solidFill>
                  <a:srgbClr val="FF0000"/>
                </a:solidFill>
              </a:rPr>
              <a:t>NOT</a:t>
            </a:r>
            <a:r>
              <a:rPr lang="en-GB" dirty="0"/>
              <a:t> to use a parallel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D9305-86E3-B85D-2DBC-0ED28C9B6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5841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sym typeface="Arial"/>
              </a:rPr>
              <a:t>The task is simple or small</a:t>
            </a:r>
          </a:p>
          <a:p>
            <a:pPr lvl="1"/>
            <a:r>
              <a:rPr lang="en-GB" dirty="0">
                <a:solidFill>
                  <a:schemeClr val="bg1"/>
                </a:solidFill>
                <a:sym typeface="Arial"/>
              </a:rPr>
              <a:t>Parallelism introduces overhead and is even worse than serial program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The task is inherently serial</a:t>
            </a:r>
          </a:p>
          <a:p>
            <a:pPr lvl="1"/>
            <a:r>
              <a:rPr lang="en-GB" dirty="0">
                <a:solidFill>
                  <a:schemeClr val="bg1"/>
                </a:solidFill>
                <a:sym typeface="Arial"/>
              </a:rPr>
              <a:t>Impossible to divide into parallel tasks</a:t>
            </a:r>
          </a:p>
          <a:p>
            <a:r>
              <a:rPr lang="en-GB" dirty="0">
                <a:solidFill>
                  <a:schemeClr val="bg1"/>
                </a:solidFill>
                <a:sym typeface="Arial"/>
              </a:rPr>
              <a:t>No parallel hardware</a:t>
            </a: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endParaRPr lang="en-GB" dirty="0">
              <a:solidFill>
                <a:schemeClr val="bg1"/>
              </a:solidFill>
              <a:sym typeface="Arial"/>
            </a:endParaRPr>
          </a:p>
          <a:p>
            <a:pPr lvl="1"/>
            <a:endParaRPr lang="en-GB" dirty="0">
              <a:solidFill>
                <a:srgbClr val="FF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991817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ENG-v.0.0.2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C371564-C2F5-4BB7-BD5F-03AF945655E5}" vid="{496ED069-01FE-4AD9-9463-B327FA48C839}"/>
    </a:ext>
  </a:extLst>
</a:theme>
</file>

<file path=ppt/theme/theme2.xml><?xml version="1.0" encoding="utf-8"?>
<a:theme xmlns:a="http://schemas.openxmlformats.org/drawingml/2006/main" name="37_WP1">
  <a:themeElements>
    <a:clrScheme name="Infineon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0034"/>
      </a:accent1>
      <a:accent2>
        <a:srgbClr val="E6EFF5"/>
      </a:accent2>
      <a:accent3>
        <a:srgbClr val="00214A"/>
      </a:accent3>
      <a:accent4>
        <a:srgbClr val="C0C0C0"/>
      </a:accent4>
      <a:accent5>
        <a:srgbClr val="990D28"/>
      </a:accent5>
      <a:accent6>
        <a:srgbClr val="1A1817"/>
      </a:accent6>
      <a:hlink>
        <a:srgbClr val="00214A"/>
      </a:hlink>
      <a:folHlink>
        <a:srgbClr val="990D28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DA9"/>
        </a:solidFill>
        <a:ln w="12700">
          <a:noFill/>
        </a:ln>
      </a:spPr>
      <a:bodyPr lIns="72000" tIns="72000" rIns="72000" bIns="72000" rtlCol="0" anchor="ctr"/>
      <a:lstStyle>
        <a:defPPr algn="ctr">
          <a:buClr>
            <a:srgbClr val="E30034"/>
          </a:buClr>
          <a:defRPr sz="1600" dirty="0" err="1" smtClean="0">
            <a:latin typeface="Verdan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marL="273050" indent="-273050">
          <a:buClr>
            <a:srgbClr val="E30034"/>
          </a:buClr>
          <a:defRPr sz="1600" dirty="0" err="1" smtClean="0">
            <a:solidFill>
              <a:schemeClr val="accent3"/>
            </a:solidFill>
            <a:latin typeface="Verdana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1547</Words>
  <Application>Microsoft Office PowerPoint</Application>
  <PresentationFormat>Skjermfremvisning (16:9)</PresentationFormat>
  <Paragraphs>255</Paragraphs>
  <Slides>36</Slides>
  <Notes>36</Notes>
  <HiddenSlides>0</HiddenSlides>
  <MMClips>1</MMClips>
  <ScaleCrop>false</ScaleCrop>
  <HeadingPairs>
    <vt:vector size="6" baseType="variant">
      <vt:variant>
        <vt:lpstr>Brukte skrifter</vt:lpstr>
      </vt:variant>
      <vt:variant>
        <vt:i4>7</vt:i4>
      </vt:variant>
      <vt:variant>
        <vt:lpstr>Tema</vt:lpstr>
      </vt:variant>
      <vt:variant>
        <vt:i4>2</vt:i4>
      </vt:variant>
      <vt:variant>
        <vt:lpstr>Lysbildetitler</vt:lpstr>
      </vt:variant>
      <vt:variant>
        <vt:i4>36</vt:i4>
      </vt:variant>
    </vt:vector>
  </HeadingPairs>
  <TitlesOfParts>
    <vt:vector size="45" baseType="lpstr">
      <vt:lpstr>Arial</vt:lpstr>
      <vt:lpstr>Cambria Math</vt:lpstr>
      <vt:lpstr>Source Sans Pro</vt:lpstr>
      <vt:lpstr>Symbol</vt:lpstr>
      <vt:lpstr>Trebuchet MS</vt:lpstr>
      <vt:lpstr>Verdana</vt:lpstr>
      <vt:lpstr>Wingdings</vt:lpstr>
      <vt:lpstr>HIOF-template-7.13.Presentasjonsmal-ENG-v.0.0.2</vt:lpstr>
      <vt:lpstr>37_WP1</vt:lpstr>
      <vt:lpstr>When to Use Parallel Programming</vt:lpstr>
      <vt:lpstr>When to Use Parallel Programming</vt:lpstr>
      <vt:lpstr>When to Use Parallel Programming</vt:lpstr>
      <vt:lpstr>When to Use Parallel Programming</vt:lpstr>
      <vt:lpstr>Impact factors</vt:lpstr>
      <vt:lpstr>Time Complexity</vt:lpstr>
      <vt:lpstr>Time Complexity</vt:lpstr>
      <vt:lpstr>Why Time Complexity matters</vt:lpstr>
      <vt:lpstr>Big‑O notation examples</vt:lpstr>
      <vt:lpstr>PowerPoint-presentasjon</vt:lpstr>
      <vt:lpstr>Time complexity</vt:lpstr>
      <vt:lpstr>Example 1: Sum of an array</vt:lpstr>
      <vt:lpstr>Example 1: Sum of an array</vt:lpstr>
      <vt:lpstr>Example 1: Sum of an array</vt:lpstr>
      <vt:lpstr>Example 1: Sum of an array</vt:lpstr>
      <vt:lpstr>Example 1: Sum of an array</vt:lpstr>
      <vt:lpstr>Example 1: Sum of an array</vt:lpstr>
      <vt:lpstr>Example 1: Sum of an array</vt:lpstr>
      <vt:lpstr>Example 1: Sum of an array</vt:lpstr>
      <vt:lpstr>Example 1: Sum of an array - (N)</vt:lpstr>
      <vt:lpstr>Example 2 : Vector – Vector Multiplication (Dot product)</vt:lpstr>
      <vt:lpstr>Example 2 : Vector – Vector Multiplication (Dot product)</vt:lpstr>
      <vt:lpstr>Example 3: Matrix – Matrix Multiplication</vt:lpstr>
      <vt:lpstr>Example</vt:lpstr>
      <vt:lpstr>Matrix – Matrix Multiplication</vt:lpstr>
      <vt:lpstr>What if input matrices are spare matrixes ?</vt:lpstr>
      <vt:lpstr>What if input matrices are spare matrixes ?</vt:lpstr>
      <vt:lpstr>PowerPoint-presentasjon</vt:lpstr>
      <vt:lpstr>Input size</vt:lpstr>
      <vt:lpstr>Input size</vt:lpstr>
      <vt:lpstr>PowerPoint-presentasjon</vt:lpstr>
      <vt:lpstr>Example of non-parallelized problem</vt:lpstr>
      <vt:lpstr>Example of non-parallelized problem</vt:lpstr>
      <vt:lpstr>Conclusion</vt:lpstr>
      <vt:lpstr>When to use a parallel program</vt:lpstr>
      <vt:lpstr>When NOT to use a parallel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and Distributed Programming</dc:title>
  <dc:creator>Thi Thuy Nga Dinh</dc:creator>
  <cp:lastModifiedBy>Thi Thuy Nga Dinh</cp:lastModifiedBy>
  <cp:revision>20</cp:revision>
  <dcterms:created xsi:type="dcterms:W3CDTF">2021-01-09T11:06:42Z</dcterms:created>
  <dcterms:modified xsi:type="dcterms:W3CDTF">2026-02-04T23:25:50Z</dcterms:modified>
</cp:coreProperties>
</file>